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</p:sldIdLst>
  <p:sldSz cx="18288000" cy="10287000"/>
  <p:notesSz cx="6858000" cy="9144000"/>
  <p:embeddedFontLst>
    <p:embeddedFont>
      <p:font typeface="Open Sans" charset="1" panose="00000000000000000000"/>
      <p:regular r:id="rId12"/>
    </p:embeddedFont>
    <p:embeddedFont>
      <p:font typeface="Gotham Bold" charset="1" panose="00000000000000000000"/>
      <p:regular r:id="rId13"/>
    </p:embeddedFont>
    <p:embeddedFont>
      <p:font typeface="Poppins Bold" charset="1" panose="00000800000000000000"/>
      <p:regular r:id="rId14"/>
    </p:embeddedFont>
    <p:embeddedFont>
      <p:font typeface="Agrandir" charset="1" panose="00000500000000000000"/>
      <p:regular r:id="rId15"/>
    </p:embeddedFont>
    <p:embeddedFont>
      <p:font typeface="Agrandir Bold" charset="1" panose="00000800000000000000"/>
      <p:regular r:id="rId16"/>
    </p:embeddedFont>
    <p:embeddedFont>
      <p:font typeface="Telegraf Bold" charset="1" panose="00000800000000000000"/>
      <p:regular r:id="rId17"/>
    </p:embeddedFont>
    <p:embeddedFont>
      <p:font typeface="Touvlo" charset="1" panose="020B0604030403020204"/>
      <p:regular r:id="rId18"/>
    </p:embeddedFont>
    <p:embeddedFont>
      <p:font typeface="Touvlo Bold" charset="1" panose="020B0804030403020204"/>
      <p:regular r:id="rId1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fonts/font12.fntdata" Type="http://schemas.openxmlformats.org/officeDocument/2006/relationships/font"/><Relationship Id="rId13" Target="fonts/font13.fntdata" Type="http://schemas.openxmlformats.org/officeDocument/2006/relationships/font"/><Relationship Id="rId14" Target="fonts/font14.fntdata" Type="http://schemas.openxmlformats.org/officeDocument/2006/relationships/font"/><Relationship Id="rId15" Target="fonts/font15.fntdata" Type="http://schemas.openxmlformats.org/officeDocument/2006/relationships/font"/><Relationship Id="rId16" Target="fonts/font16.fntdata" Type="http://schemas.openxmlformats.org/officeDocument/2006/relationships/font"/><Relationship Id="rId17" Target="fonts/font17.fntdata" Type="http://schemas.openxmlformats.org/officeDocument/2006/relationships/font"/><Relationship Id="rId18" Target="fonts/font18.fntdata" Type="http://schemas.openxmlformats.org/officeDocument/2006/relationships/font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3.svg" Type="http://schemas.openxmlformats.org/officeDocument/2006/relationships/image"/><Relationship Id="rId4" Target="../media/image4.png" Type="http://schemas.openxmlformats.org/officeDocument/2006/relationships/image"/><Relationship Id="rId5" Target="../media/image5.svg" Type="http://schemas.openxmlformats.org/officeDocument/2006/relationships/image"/><Relationship Id="rId6" Target="../media/image6.png" Type="http://schemas.openxmlformats.org/officeDocument/2006/relationships/image"/><Relationship Id="rId7" Target="../media/image7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4.png" Type="http://schemas.openxmlformats.org/officeDocument/2006/relationships/image"/><Relationship Id="rId11" Target="../media/image15.png" Type="http://schemas.openxmlformats.org/officeDocument/2006/relationships/image"/><Relationship Id="rId12" Target="../media/image16.svg" Type="http://schemas.openxmlformats.org/officeDocument/2006/relationships/image"/><Relationship Id="rId13" Target="../media/image17.png" Type="http://schemas.openxmlformats.org/officeDocument/2006/relationships/image"/><Relationship Id="rId14" Target="../media/image18.svg" Type="http://schemas.openxmlformats.org/officeDocument/2006/relationships/image"/><Relationship Id="rId2" Target="../media/image2.png" Type="http://schemas.openxmlformats.org/officeDocument/2006/relationships/image"/><Relationship Id="rId3" Target="../media/image3.svg" Type="http://schemas.openxmlformats.org/officeDocument/2006/relationships/image"/><Relationship Id="rId4" Target="../media/image8.png" Type="http://schemas.openxmlformats.org/officeDocument/2006/relationships/image"/><Relationship Id="rId5" Target="../media/image9.png" Type="http://schemas.openxmlformats.org/officeDocument/2006/relationships/image"/><Relationship Id="rId6" Target="../media/image10.png" Type="http://schemas.openxmlformats.org/officeDocument/2006/relationships/image"/><Relationship Id="rId7" Target="../media/image11.svg" Type="http://schemas.openxmlformats.org/officeDocument/2006/relationships/image"/><Relationship Id="rId8" Target="../media/image12.png" Type="http://schemas.openxmlformats.org/officeDocument/2006/relationships/image"/><Relationship Id="rId9" Target="../media/image13.sv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3.svg" Type="http://schemas.openxmlformats.org/officeDocument/2006/relationships/image"/><Relationship Id="rId4" Target="../media/image19.png" Type="http://schemas.openxmlformats.org/officeDocument/2006/relationships/image"/><Relationship Id="rId5" Target="../media/image20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3.svg" Type="http://schemas.openxmlformats.org/officeDocument/2006/relationships/image"/><Relationship Id="rId4" Target="../media/image21.png" Type="http://schemas.openxmlformats.org/officeDocument/2006/relationships/image"/><Relationship Id="rId5" Target="../media/image22.png" Type="http://schemas.openxmlformats.org/officeDocument/2006/relationships/image"/><Relationship Id="rId6" Target="../media/image23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3.sv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7293116" y="565634"/>
            <a:ext cx="397367" cy="28996"/>
            <a:chOff x="0" y="0"/>
            <a:chExt cx="128243" cy="935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28243" cy="9358"/>
            </a:xfrm>
            <a:custGeom>
              <a:avLst/>
              <a:gdLst/>
              <a:ahLst/>
              <a:cxnLst/>
              <a:rect r="r" b="b" t="t" l="l"/>
              <a:pathLst>
                <a:path h="9358" w="128243">
                  <a:moveTo>
                    <a:pt x="0" y="0"/>
                  </a:moveTo>
                  <a:lnTo>
                    <a:pt x="128243" y="0"/>
                  </a:lnTo>
                  <a:lnTo>
                    <a:pt x="128243" y="9358"/>
                  </a:lnTo>
                  <a:lnTo>
                    <a:pt x="0" y="9358"/>
                  </a:lnTo>
                  <a:close/>
                </a:path>
              </a:pathLst>
            </a:custGeom>
            <a:solidFill>
              <a:srgbClr val="388E3C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28243" cy="4745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7293116" y="657737"/>
            <a:ext cx="397367" cy="28996"/>
            <a:chOff x="0" y="0"/>
            <a:chExt cx="128243" cy="9358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8243" cy="9358"/>
            </a:xfrm>
            <a:custGeom>
              <a:avLst/>
              <a:gdLst/>
              <a:ahLst/>
              <a:cxnLst/>
              <a:rect r="r" b="b" t="t" l="l"/>
              <a:pathLst>
                <a:path h="9358" w="128243">
                  <a:moveTo>
                    <a:pt x="0" y="0"/>
                  </a:moveTo>
                  <a:lnTo>
                    <a:pt x="128243" y="0"/>
                  </a:lnTo>
                  <a:lnTo>
                    <a:pt x="128243" y="9358"/>
                  </a:lnTo>
                  <a:lnTo>
                    <a:pt x="0" y="9358"/>
                  </a:lnTo>
                  <a:close/>
                </a:path>
              </a:pathLst>
            </a:custGeom>
            <a:solidFill>
              <a:srgbClr val="388E3C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128243" cy="4745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8177932" y="8597752"/>
            <a:ext cx="110068" cy="660548"/>
            <a:chOff x="0" y="0"/>
            <a:chExt cx="28989" cy="17397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8989" cy="173972"/>
            </a:xfrm>
            <a:custGeom>
              <a:avLst/>
              <a:gdLst/>
              <a:ahLst/>
              <a:cxnLst/>
              <a:rect r="r" b="b" t="t" l="l"/>
              <a:pathLst>
                <a:path h="173972" w="28989">
                  <a:moveTo>
                    <a:pt x="0" y="0"/>
                  </a:moveTo>
                  <a:lnTo>
                    <a:pt x="28989" y="0"/>
                  </a:lnTo>
                  <a:lnTo>
                    <a:pt x="28989" y="173972"/>
                  </a:lnTo>
                  <a:lnTo>
                    <a:pt x="0" y="173972"/>
                  </a:lnTo>
                  <a:close/>
                </a:path>
              </a:pathLst>
            </a:custGeom>
            <a:solidFill>
              <a:srgbClr val="335ACF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28989" cy="21207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-770404" y="657737"/>
            <a:ext cx="7246397" cy="7246397"/>
          </a:xfrm>
          <a:custGeom>
            <a:avLst/>
            <a:gdLst/>
            <a:ahLst/>
            <a:cxnLst/>
            <a:rect r="r" b="b" t="t" l="l"/>
            <a:pathLst>
              <a:path h="7246397" w="7246397">
                <a:moveTo>
                  <a:pt x="0" y="0"/>
                </a:moveTo>
                <a:lnTo>
                  <a:pt x="7246397" y="0"/>
                </a:lnTo>
                <a:lnTo>
                  <a:pt x="7246397" y="7246398"/>
                </a:lnTo>
                <a:lnTo>
                  <a:pt x="0" y="724639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1999"/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3078309" y="657737"/>
            <a:ext cx="7246397" cy="7246397"/>
          </a:xfrm>
          <a:custGeom>
            <a:avLst/>
            <a:gdLst/>
            <a:ahLst/>
            <a:cxnLst/>
            <a:rect r="r" b="b" t="t" l="l"/>
            <a:pathLst>
              <a:path h="7246397" w="7246397">
                <a:moveTo>
                  <a:pt x="0" y="0"/>
                </a:moveTo>
                <a:lnTo>
                  <a:pt x="7246398" y="0"/>
                </a:lnTo>
                <a:lnTo>
                  <a:pt x="7246398" y="7246398"/>
                </a:lnTo>
                <a:lnTo>
                  <a:pt x="0" y="724639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1999"/>
            </a:blip>
            <a:stretch>
              <a:fillRect l="0" t="0" r="0" b="0"/>
            </a:stretch>
          </a:blipFill>
        </p:spPr>
      </p:sp>
      <p:grpSp>
        <p:nvGrpSpPr>
          <p:cNvPr name="Group 13" id="13"/>
          <p:cNvGrpSpPr/>
          <p:nvPr/>
        </p:nvGrpSpPr>
        <p:grpSpPr>
          <a:xfrm rot="0">
            <a:off x="686778" y="2006712"/>
            <a:ext cx="7676774" cy="4211784"/>
            <a:chOff x="0" y="0"/>
            <a:chExt cx="1052050" cy="577197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052050" cy="577197"/>
            </a:xfrm>
            <a:custGeom>
              <a:avLst/>
              <a:gdLst/>
              <a:ahLst/>
              <a:cxnLst/>
              <a:rect r="r" b="b" t="t" l="l"/>
              <a:pathLst>
                <a:path h="577197" w="1052050">
                  <a:moveTo>
                    <a:pt x="50424" y="0"/>
                  </a:moveTo>
                  <a:lnTo>
                    <a:pt x="1001626" y="0"/>
                  </a:lnTo>
                  <a:cubicBezTo>
                    <a:pt x="1029475" y="0"/>
                    <a:pt x="1052050" y="22576"/>
                    <a:pt x="1052050" y="50424"/>
                  </a:cubicBezTo>
                  <a:lnTo>
                    <a:pt x="1052050" y="526772"/>
                  </a:lnTo>
                  <a:cubicBezTo>
                    <a:pt x="1052050" y="554621"/>
                    <a:pt x="1029475" y="577197"/>
                    <a:pt x="1001626" y="577197"/>
                  </a:cubicBezTo>
                  <a:lnTo>
                    <a:pt x="50424" y="577197"/>
                  </a:lnTo>
                  <a:cubicBezTo>
                    <a:pt x="22576" y="577197"/>
                    <a:pt x="0" y="554621"/>
                    <a:pt x="0" y="526772"/>
                  </a:cubicBezTo>
                  <a:lnTo>
                    <a:pt x="0" y="50424"/>
                  </a:lnTo>
                  <a:cubicBezTo>
                    <a:pt x="0" y="22576"/>
                    <a:pt x="22576" y="0"/>
                    <a:pt x="50424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1052050" cy="615297"/>
            </a:xfrm>
            <a:prstGeom prst="rect">
              <a:avLst/>
            </a:prstGeom>
          </p:spPr>
          <p:txBody>
            <a:bodyPr anchor="ctr" rtlCol="false" tIns="47086" lIns="47086" bIns="47086" rIns="47086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16" id="16"/>
          <p:cNvSpPr txBox="true"/>
          <p:nvPr/>
        </p:nvSpPr>
        <p:spPr>
          <a:xfrm rot="0">
            <a:off x="15940842" y="517674"/>
            <a:ext cx="978460" cy="1979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80"/>
              </a:lnSpc>
              <a:spcBef>
                <a:spcPct val="0"/>
              </a:spcBef>
            </a:pPr>
            <a:r>
              <a:rPr lang="en-US" sz="120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Contact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4385046" y="517674"/>
            <a:ext cx="1060497" cy="1979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80"/>
              </a:lnSpc>
              <a:spcBef>
                <a:spcPct val="0"/>
              </a:spcBef>
            </a:pPr>
            <a:r>
              <a:rPr lang="en-US" sz="120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About Us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3154289" y="517674"/>
            <a:ext cx="735456" cy="1979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80"/>
              </a:lnSpc>
              <a:spcBef>
                <a:spcPct val="0"/>
              </a:spcBef>
            </a:pPr>
            <a:r>
              <a:rPr lang="en-US" sz="120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Photo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1898530" y="517674"/>
            <a:ext cx="809760" cy="1979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80"/>
              </a:lnSpc>
              <a:spcBef>
                <a:spcPct val="0"/>
              </a:spcBef>
            </a:pPr>
            <a:r>
              <a:rPr lang="en-US" sz="120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Home</a:t>
            </a:r>
          </a:p>
        </p:txBody>
      </p:sp>
      <p:sp>
        <p:nvSpPr>
          <p:cNvPr name="Freeform 20" id="20"/>
          <p:cNvSpPr/>
          <p:nvPr/>
        </p:nvSpPr>
        <p:spPr>
          <a:xfrm flipH="false" flipV="false" rot="0">
            <a:off x="3247956" y="2278609"/>
            <a:ext cx="2351795" cy="2620384"/>
          </a:xfrm>
          <a:custGeom>
            <a:avLst/>
            <a:gdLst/>
            <a:ahLst/>
            <a:cxnLst/>
            <a:rect r="r" b="b" t="t" l="l"/>
            <a:pathLst>
              <a:path h="2620384" w="2351795">
                <a:moveTo>
                  <a:pt x="0" y="0"/>
                </a:moveTo>
                <a:lnTo>
                  <a:pt x="2351795" y="0"/>
                </a:lnTo>
                <a:lnTo>
                  <a:pt x="2351795" y="2620384"/>
                </a:lnTo>
                <a:lnTo>
                  <a:pt x="0" y="262038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1" id="21"/>
          <p:cNvSpPr txBox="true"/>
          <p:nvPr/>
        </p:nvSpPr>
        <p:spPr>
          <a:xfrm rot="0">
            <a:off x="2000109" y="5084266"/>
            <a:ext cx="4847490" cy="8350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943"/>
              </a:lnSpc>
              <a:spcBef>
                <a:spcPct val="0"/>
              </a:spcBef>
            </a:pPr>
            <a:r>
              <a:rPr lang="en-US" b="true" sz="4959">
                <a:solidFill>
                  <a:srgbClr val="388E3C"/>
                </a:solidFill>
                <a:latin typeface="Gotham Bold"/>
                <a:ea typeface="Gotham Bold"/>
                <a:cs typeface="Gotham Bold"/>
                <a:sym typeface="Gotham Bold"/>
              </a:rPr>
              <a:t>Haat Baran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1258044" y="2301940"/>
            <a:ext cx="4982921" cy="20843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336"/>
              </a:lnSpc>
            </a:pPr>
            <a:r>
              <a:rPr lang="en-US" sz="4560" b="true">
                <a:solidFill>
                  <a:srgbClr val="1F2020"/>
                </a:solidFill>
                <a:latin typeface="Poppins Bold"/>
                <a:ea typeface="Poppins Bold"/>
                <a:cs typeface="Poppins Bold"/>
                <a:sym typeface="Poppins Bold"/>
              </a:rPr>
              <a:t>Software</a:t>
            </a:r>
          </a:p>
          <a:p>
            <a:pPr algn="l">
              <a:lnSpc>
                <a:spcPts val="5336"/>
              </a:lnSpc>
            </a:pPr>
            <a:r>
              <a:rPr lang="en-US" sz="4560" b="true">
                <a:solidFill>
                  <a:srgbClr val="1F2020"/>
                </a:solidFill>
                <a:latin typeface="Poppins Bold"/>
                <a:ea typeface="Poppins Bold"/>
                <a:cs typeface="Poppins Bold"/>
                <a:sym typeface="Poppins Bold"/>
              </a:rPr>
              <a:t>Requirement</a:t>
            </a:r>
          </a:p>
          <a:p>
            <a:pPr algn="l">
              <a:lnSpc>
                <a:spcPts val="5336"/>
              </a:lnSpc>
            </a:pPr>
            <a:r>
              <a:rPr lang="en-US" sz="4560" b="true">
                <a:solidFill>
                  <a:srgbClr val="1F2020"/>
                </a:solidFill>
                <a:latin typeface="Poppins Bold"/>
                <a:ea typeface="Poppins Bold"/>
                <a:cs typeface="Poppins Bold"/>
                <a:sym typeface="Poppins Bold"/>
              </a:rPr>
              <a:t>Analysis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1258044" y="6985908"/>
            <a:ext cx="4328653" cy="2860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79"/>
              </a:lnSpc>
            </a:pPr>
            <a:r>
              <a:rPr lang="en-US" sz="2199">
                <a:solidFill>
                  <a:srgbClr val="1F2020"/>
                </a:solidFill>
                <a:latin typeface="Agrandir"/>
                <a:ea typeface="Agrandir"/>
                <a:cs typeface="Agrandir"/>
                <a:sym typeface="Agrandir"/>
              </a:rPr>
              <a:t>Presented By</a:t>
            </a:r>
          </a:p>
          <a:p>
            <a:pPr algn="l">
              <a:lnSpc>
                <a:spcPts val="3079"/>
              </a:lnSpc>
            </a:pPr>
          </a:p>
          <a:p>
            <a:pPr algn="l">
              <a:lnSpc>
                <a:spcPts val="3079"/>
              </a:lnSpc>
            </a:pPr>
            <a:r>
              <a:rPr lang="en-US" sz="2199">
                <a:solidFill>
                  <a:srgbClr val="1F2020"/>
                </a:solidFill>
                <a:latin typeface="Agrandir"/>
                <a:ea typeface="Agrandir"/>
                <a:cs typeface="Agrandir"/>
                <a:sym typeface="Agrandir"/>
              </a:rPr>
              <a:t>Mostofa Hasin Mahdi</a:t>
            </a:r>
          </a:p>
          <a:p>
            <a:pPr algn="l">
              <a:lnSpc>
                <a:spcPts val="3079"/>
              </a:lnSpc>
            </a:pPr>
            <a:r>
              <a:rPr lang="en-US" sz="2199">
                <a:solidFill>
                  <a:srgbClr val="1F2020"/>
                </a:solidFill>
                <a:latin typeface="Agrandir"/>
                <a:ea typeface="Agrandir"/>
                <a:cs typeface="Agrandir"/>
                <a:sym typeface="Agrandir"/>
              </a:rPr>
              <a:t>223071109</a:t>
            </a:r>
          </a:p>
          <a:p>
            <a:pPr algn="l">
              <a:lnSpc>
                <a:spcPts val="3079"/>
              </a:lnSpc>
            </a:pPr>
            <a:r>
              <a:rPr lang="en-US" sz="2199">
                <a:solidFill>
                  <a:srgbClr val="1F2020"/>
                </a:solidFill>
                <a:latin typeface="Agrandir"/>
                <a:ea typeface="Agrandir"/>
                <a:cs typeface="Agrandir"/>
                <a:sym typeface="Agrandir"/>
              </a:rPr>
              <a:t>Talal Sharar Apurbo</a:t>
            </a:r>
          </a:p>
          <a:p>
            <a:pPr algn="l">
              <a:lnSpc>
                <a:spcPts val="3079"/>
              </a:lnSpc>
            </a:pPr>
            <a:r>
              <a:rPr lang="en-US" sz="2199">
                <a:solidFill>
                  <a:srgbClr val="1F2020"/>
                </a:solidFill>
                <a:latin typeface="Agrandir"/>
                <a:ea typeface="Agrandir"/>
                <a:cs typeface="Agrandir"/>
                <a:sym typeface="Agrandir"/>
              </a:rPr>
              <a:t>223071108</a:t>
            </a:r>
          </a:p>
          <a:p>
            <a:pPr algn="l">
              <a:lnSpc>
                <a:spcPts val="1820"/>
              </a:lnSpc>
            </a:pPr>
            <a:r>
              <a:rPr lang="en-US" sz="1300">
                <a:solidFill>
                  <a:srgbClr val="1F2020"/>
                </a:solidFill>
                <a:latin typeface="Agrandir"/>
                <a:ea typeface="Agrandir"/>
                <a:cs typeface="Agrandir"/>
                <a:sym typeface="Agrandir"/>
              </a:rPr>
              <a:t>31</a:t>
            </a:r>
            <a:r>
              <a:rPr lang="en-US" sz="1300">
                <a:solidFill>
                  <a:srgbClr val="1F2020"/>
                </a:solidFill>
                <a:latin typeface="Agrandir"/>
                <a:ea typeface="Agrandir"/>
                <a:cs typeface="Agrandir"/>
                <a:sym typeface="Agrandir"/>
              </a:rPr>
              <a:t>st</a:t>
            </a:r>
            <a:r>
              <a:rPr lang="en-US" sz="1300">
                <a:solidFill>
                  <a:srgbClr val="1F2020"/>
                </a:solidFill>
                <a:latin typeface="Agrandir"/>
                <a:ea typeface="Agrandir"/>
                <a:cs typeface="Agrandir"/>
                <a:sym typeface="Agrandir"/>
              </a:rPr>
              <a:t> Batch, Group - (A)</a:t>
            </a:r>
          </a:p>
          <a:p>
            <a:pPr algn="l">
              <a:lnSpc>
                <a:spcPts val="1820"/>
              </a:lnSpc>
              <a:spcBef>
                <a:spcPct val="0"/>
              </a:spcBef>
            </a:pPr>
            <a:r>
              <a:rPr lang="en-US" sz="1300">
                <a:solidFill>
                  <a:srgbClr val="1F2020"/>
                </a:solidFill>
                <a:latin typeface="Agrandir"/>
                <a:ea typeface="Agrandir"/>
                <a:cs typeface="Agrandir"/>
                <a:sym typeface="Agrandir"/>
              </a:rPr>
              <a:t>Dept. of CSE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480674" y="1028700"/>
            <a:ext cx="851827" cy="949111"/>
          </a:xfrm>
          <a:custGeom>
            <a:avLst/>
            <a:gdLst/>
            <a:ahLst/>
            <a:cxnLst/>
            <a:rect r="r" b="b" t="t" l="l"/>
            <a:pathLst>
              <a:path h="949111" w="851827">
                <a:moveTo>
                  <a:pt x="0" y="0"/>
                </a:moveTo>
                <a:lnTo>
                  <a:pt x="851827" y="0"/>
                </a:lnTo>
                <a:lnTo>
                  <a:pt x="851827" y="949111"/>
                </a:lnTo>
                <a:lnTo>
                  <a:pt x="0" y="94911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169674" y="1028700"/>
            <a:ext cx="3089626" cy="3239451"/>
          </a:xfrm>
          <a:custGeom>
            <a:avLst/>
            <a:gdLst/>
            <a:ahLst/>
            <a:cxnLst/>
            <a:rect r="r" b="b" t="t" l="l"/>
            <a:pathLst>
              <a:path h="3239451" w="3089626">
                <a:moveTo>
                  <a:pt x="0" y="0"/>
                </a:moveTo>
                <a:lnTo>
                  <a:pt x="3089626" y="0"/>
                </a:lnTo>
                <a:lnTo>
                  <a:pt x="3089626" y="3239451"/>
                </a:lnTo>
                <a:lnTo>
                  <a:pt x="0" y="323945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1060255" y="5206611"/>
            <a:ext cx="15463804" cy="3562587"/>
            <a:chOff x="0" y="0"/>
            <a:chExt cx="4072771" cy="93829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4072772" cy="938294"/>
            </a:xfrm>
            <a:custGeom>
              <a:avLst/>
              <a:gdLst/>
              <a:ahLst/>
              <a:cxnLst/>
              <a:rect r="r" b="b" t="t" l="l"/>
              <a:pathLst>
                <a:path h="938294" w="4072772">
                  <a:moveTo>
                    <a:pt x="35045" y="0"/>
                  </a:moveTo>
                  <a:lnTo>
                    <a:pt x="4037726" y="0"/>
                  </a:lnTo>
                  <a:cubicBezTo>
                    <a:pt x="4047021" y="0"/>
                    <a:pt x="4055935" y="3692"/>
                    <a:pt x="4062507" y="10265"/>
                  </a:cubicBezTo>
                  <a:cubicBezTo>
                    <a:pt x="4069079" y="16837"/>
                    <a:pt x="4072772" y="25751"/>
                    <a:pt x="4072772" y="35045"/>
                  </a:cubicBezTo>
                  <a:lnTo>
                    <a:pt x="4072772" y="903249"/>
                  </a:lnTo>
                  <a:cubicBezTo>
                    <a:pt x="4072772" y="922604"/>
                    <a:pt x="4057081" y="938294"/>
                    <a:pt x="4037726" y="938294"/>
                  </a:cubicBezTo>
                  <a:lnTo>
                    <a:pt x="35045" y="938294"/>
                  </a:lnTo>
                  <a:cubicBezTo>
                    <a:pt x="15690" y="938294"/>
                    <a:pt x="0" y="922604"/>
                    <a:pt x="0" y="903249"/>
                  </a:cubicBezTo>
                  <a:lnTo>
                    <a:pt x="0" y="35045"/>
                  </a:lnTo>
                  <a:cubicBezTo>
                    <a:pt x="0" y="15690"/>
                    <a:pt x="15690" y="0"/>
                    <a:pt x="35045" y="0"/>
                  </a:cubicBezTo>
                  <a:close/>
                </a:path>
              </a:pathLst>
            </a:custGeom>
            <a:solidFill>
              <a:srgbClr val="00BF63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38100"/>
              <a:ext cx="4072771" cy="97639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15"/>
                </a:lnSpc>
              </a:pPr>
            </a:p>
          </p:txBody>
        </p:sp>
      </p:grpSp>
      <p:sp>
        <p:nvSpPr>
          <p:cNvPr name="Freeform 7" id="7"/>
          <p:cNvSpPr/>
          <p:nvPr/>
        </p:nvSpPr>
        <p:spPr>
          <a:xfrm flipH="false" flipV="false" rot="0">
            <a:off x="1311651" y="6097630"/>
            <a:ext cx="1020850" cy="1794901"/>
          </a:xfrm>
          <a:custGeom>
            <a:avLst/>
            <a:gdLst/>
            <a:ahLst/>
            <a:cxnLst/>
            <a:rect r="r" b="b" t="t" l="l"/>
            <a:pathLst>
              <a:path h="1794901" w="1020850">
                <a:moveTo>
                  <a:pt x="0" y="0"/>
                </a:moveTo>
                <a:lnTo>
                  <a:pt x="1020850" y="0"/>
                </a:lnTo>
                <a:lnTo>
                  <a:pt x="1020850" y="1794900"/>
                </a:lnTo>
                <a:lnTo>
                  <a:pt x="0" y="179490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2501524" y="6171026"/>
            <a:ext cx="2999476" cy="20378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655"/>
              </a:lnSpc>
              <a:spcBef>
                <a:spcPct val="0"/>
              </a:spcBef>
            </a:pPr>
            <a:r>
              <a:rPr lang="en-US" sz="1896">
                <a:solidFill>
                  <a:srgbClr val="FFFFFF"/>
                </a:solidFill>
                <a:latin typeface="Agrandir"/>
                <a:ea typeface="Agrandir"/>
                <a:cs typeface="Agrandir"/>
                <a:sym typeface="Agrandir"/>
              </a:rPr>
              <a:t>For </a:t>
            </a:r>
            <a:r>
              <a:rPr lang="en-US" sz="1896">
                <a:solidFill>
                  <a:srgbClr val="FFFFFF"/>
                </a:solidFill>
                <a:latin typeface="Agrandir"/>
                <a:ea typeface="Agrandir"/>
                <a:cs typeface="Agrandir"/>
                <a:sym typeface="Agrandir"/>
              </a:rPr>
              <a:t>trained field workers to visit applicants, collect their details, photos, and location, and submit this information to the central system.</a:t>
            </a:r>
          </a:p>
        </p:txBody>
      </p:sp>
      <p:sp>
        <p:nvSpPr>
          <p:cNvPr name="AutoShape 9" id="9"/>
          <p:cNvSpPr/>
          <p:nvPr/>
        </p:nvSpPr>
        <p:spPr>
          <a:xfrm>
            <a:off x="5500999" y="5222612"/>
            <a:ext cx="0" cy="3546585"/>
          </a:xfrm>
          <a:prstGeom prst="line">
            <a:avLst/>
          </a:prstGeom>
          <a:ln cap="flat" w="76200">
            <a:solidFill>
              <a:srgbClr val="545454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0" id="10"/>
          <p:cNvSpPr/>
          <p:nvPr/>
        </p:nvSpPr>
        <p:spPr>
          <a:xfrm flipH="true">
            <a:off x="10447971" y="5222612"/>
            <a:ext cx="69450" cy="3467697"/>
          </a:xfrm>
          <a:prstGeom prst="line">
            <a:avLst/>
          </a:prstGeom>
          <a:ln cap="flat" w="76200">
            <a:solidFill>
              <a:srgbClr val="545454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11" id="11"/>
          <p:cNvSpPr/>
          <p:nvPr/>
        </p:nvSpPr>
        <p:spPr>
          <a:xfrm flipH="false" flipV="false" rot="0">
            <a:off x="10956431" y="5945337"/>
            <a:ext cx="1708069" cy="1952079"/>
          </a:xfrm>
          <a:custGeom>
            <a:avLst/>
            <a:gdLst/>
            <a:ahLst/>
            <a:cxnLst/>
            <a:rect r="r" b="b" t="t" l="l"/>
            <a:pathLst>
              <a:path h="1952079" w="1708069">
                <a:moveTo>
                  <a:pt x="0" y="0"/>
                </a:moveTo>
                <a:lnTo>
                  <a:pt x="1708069" y="0"/>
                </a:lnTo>
                <a:lnTo>
                  <a:pt x="1708069" y="1952079"/>
                </a:lnTo>
                <a:lnTo>
                  <a:pt x="0" y="195207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grpSp>
        <p:nvGrpSpPr>
          <p:cNvPr name="Group 12" id="12"/>
          <p:cNvGrpSpPr/>
          <p:nvPr/>
        </p:nvGrpSpPr>
        <p:grpSpPr>
          <a:xfrm rot="0">
            <a:off x="1468437" y="8051651"/>
            <a:ext cx="594936" cy="594936"/>
            <a:chOff x="0" y="0"/>
            <a:chExt cx="812800" cy="8128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388E3C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15"/>
                </a:lnSpc>
              </a:pPr>
              <a:r>
                <a:rPr lang="en-US" b="true" sz="1796">
                  <a:solidFill>
                    <a:srgbClr val="FFFFFF"/>
                  </a:solidFill>
                  <a:latin typeface="Gotham Bold"/>
                  <a:ea typeface="Gotham Bold"/>
                  <a:cs typeface="Gotham Bold"/>
                  <a:sym typeface="Gotham Bold"/>
                </a:rPr>
                <a:t>1</a:t>
              </a: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7415226" y="6171026"/>
            <a:ext cx="2999476" cy="23711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655"/>
              </a:lnSpc>
              <a:spcBef>
                <a:spcPct val="0"/>
              </a:spcBef>
            </a:pPr>
            <a:r>
              <a:rPr lang="en-US" sz="1896">
                <a:solidFill>
                  <a:srgbClr val="FFFFFF"/>
                </a:solidFill>
                <a:latin typeface="Agrandir"/>
                <a:ea typeface="Agrandir"/>
                <a:cs typeface="Agrandir"/>
                <a:sym typeface="Agrandir"/>
              </a:rPr>
              <a:t>Des</a:t>
            </a:r>
            <a:r>
              <a:rPr lang="en-US" sz="1896">
                <a:solidFill>
                  <a:srgbClr val="FFFFFF"/>
                </a:solidFill>
                <a:latin typeface="Agrandir"/>
                <a:ea typeface="Agrandir"/>
                <a:cs typeface="Agrandir"/>
                <a:sym typeface="Agrandir"/>
              </a:rPr>
              <a:t>igned for donors to view verified profiles of applicants, check their background and business goals, and securely contribute funds using digital payment gateways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028700" y="2044767"/>
            <a:ext cx="1755775" cy="3026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15"/>
              </a:lnSpc>
              <a:spcBef>
                <a:spcPct val="0"/>
              </a:spcBef>
            </a:pPr>
            <a:r>
              <a:rPr lang="en-US" b="true" sz="1796">
                <a:solidFill>
                  <a:srgbClr val="388E3C"/>
                </a:solidFill>
                <a:latin typeface="Gotham Bold"/>
                <a:ea typeface="Gotham Bold"/>
                <a:cs typeface="Gotham Bold"/>
                <a:sym typeface="Gotham Bold"/>
              </a:rPr>
              <a:t>Haat Baran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028700" y="2794062"/>
            <a:ext cx="11314287" cy="17044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655"/>
              </a:lnSpc>
              <a:spcBef>
                <a:spcPct val="0"/>
              </a:spcBef>
            </a:pPr>
            <a:r>
              <a:rPr lang="en-US" sz="1896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Software Requirement Specification (SRS) describes the requirements for the Haat Baran project , a digital funding and verification platform for underprivileged individuals seeking startup capital to begin small businesses.</a:t>
            </a:r>
          </a:p>
          <a:p>
            <a:pPr algn="just">
              <a:lnSpc>
                <a:spcPts val="2655"/>
              </a:lnSpc>
              <a:spcBef>
                <a:spcPct val="0"/>
              </a:spcBef>
            </a:pPr>
          </a:p>
          <a:p>
            <a:pPr algn="just">
              <a:lnSpc>
                <a:spcPts val="2655"/>
              </a:lnSpc>
              <a:spcBef>
                <a:spcPct val="0"/>
              </a:spcBef>
            </a:pPr>
            <a:r>
              <a:rPr lang="en-US" sz="1896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Haat Baran will consist of three primary interfaces: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7122781" y="1369797"/>
            <a:ext cx="4042438" cy="9874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6999"/>
              </a:lnSpc>
              <a:spcBef>
                <a:spcPct val="0"/>
              </a:spcBef>
            </a:pPr>
            <a:r>
              <a:rPr lang="en-US" b="true" sz="4999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Introduction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2797912" y="5604145"/>
            <a:ext cx="2406700" cy="4934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75"/>
              </a:lnSpc>
              <a:spcBef>
                <a:spcPct val="0"/>
              </a:spcBef>
            </a:pPr>
            <a:r>
              <a:rPr lang="en-US" b="true" sz="2696">
                <a:solidFill>
                  <a:srgbClr val="FFFFFF"/>
                </a:solidFill>
                <a:latin typeface="Telegraf Bold"/>
                <a:ea typeface="Telegraf Bold"/>
                <a:cs typeface="Telegraf Bold"/>
                <a:sym typeface="Telegraf Bold"/>
              </a:rPr>
              <a:t>Volunteer App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7634301" y="5604145"/>
            <a:ext cx="2099072" cy="4934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75"/>
              </a:lnSpc>
              <a:spcBef>
                <a:spcPct val="0"/>
              </a:spcBef>
            </a:pPr>
            <a:r>
              <a:rPr lang="en-US" b="true" sz="2696">
                <a:solidFill>
                  <a:srgbClr val="FFFFFF"/>
                </a:solidFill>
                <a:latin typeface="Telegraf Bold"/>
                <a:ea typeface="Telegraf Bold"/>
                <a:cs typeface="Telegraf Bold"/>
                <a:sym typeface="Telegraf Bold"/>
              </a:rPr>
              <a:t>Donor Portal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2664500" y="5604145"/>
            <a:ext cx="3010346" cy="4934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75"/>
              </a:lnSpc>
              <a:spcBef>
                <a:spcPct val="0"/>
              </a:spcBef>
            </a:pPr>
            <a:r>
              <a:rPr lang="en-US" b="true" sz="2696">
                <a:solidFill>
                  <a:srgbClr val="FFFFFF"/>
                </a:solidFill>
                <a:latin typeface="Telegraf Bold"/>
                <a:ea typeface="Telegraf Bold"/>
                <a:cs typeface="Telegraf Bold"/>
                <a:sym typeface="Telegraf Bold"/>
              </a:rPr>
              <a:t>Admin Dashboard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2906600" y="6171026"/>
            <a:ext cx="2526147" cy="23711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655"/>
              </a:lnSpc>
              <a:spcBef>
                <a:spcPct val="0"/>
              </a:spcBef>
            </a:pPr>
            <a:r>
              <a:rPr lang="en-US" sz="1896">
                <a:solidFill>
                  <a:srgbClr val="FFFFFF"/>
                </a:solidFill>
                <a:latin typeface="Agrandir"/>
                <a:ea typeface="Agrandir"/>
                <a:cs typeface="Agrandir"/>
                <a:sym typeface="Agrandir"/>
              </a:rPr>
              <a:t>A web bas</a:t>
            </a:r>
            <a:r>
              <a:rPr lang="en-US" sz="1896">
                <a:solidFill>
                  <a:srgbClr val="FFFFFF"/>
                </a:solidFill>
                <a:latin typeface="Agrandir"/>
                <a:ea typeface="Agrandir"/>
                <a:cs typeface="Agrandir"/>
                <a:sym typeface="Agrandir"/>
              </a:rPr>
              <a:t>ed control panel for approving applicants, monitoring funding flow, generating reports, and ensuring transparency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5782893" y="8051651"/>
            <a:ext cx="610566" cy="610566"/>
            <a:chOff x="0" y="0"/>
            <a:chExt cx="812800" cy="8128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388E3C"/>
            </a:solidFill>
          </p:spPr>
        </p:sp>
        <p:sp>
          <p:nvSpPr>
            <p:cNvPr name="TextBox 25" id="25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15"/>
                </a:lnSpc>
              </a:pPr>
              <a:r>
                <a:rPr lang="en-US" b="true" sz="1796">
                  <a:solidFill>
                    <a:srgbClr val="FFFFFF"/>
                  </a:solidFill>
                  <a:latin typeface="Gotham Bold"/>
                  <a:ea typeface="Gotham Bold"/>
                  <a:cs typeface="Gotham Bold"/>
                  <a:sym typeface="Gotham Bold"/>
                </a:rPr>
                <a:t>2</a:t>
              </a: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10956431" y="8036022"/>
            <a:ext cx="610566" cy="610566"/>
            <a:chOff x="0" y="0"/>
            <a:chExt cx="812800" cy="81280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388E3C"/>
            </a:solidFill>
          </p:spPr>
        </p:sp>
        <p:sp>
          <p:nvSpPr>
            <p:cNvPr name="TextBox 28" id="28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15"/>
                </a:lnSpc>
              </a:pPr>
              <a:r>
                <a:rPr lang="en-US" b="true" sz="1796">
                  <a:solidFill>
                    <a:srgbClr val="FFFFFF"/>
                  </a:solidFill>
                  <a:latin typeface="Gotham Bold"/>
                  <a:ea typeface="Gotham Bold"/>
                  <a:cs typeface="Gotham Bold"/>
                  <a:sym typeface="Gotham Bold"/>
                </a:rPr>
                <a:t>3</a:t>
              </a:r>
            </a:p>
          </p:txBody>
        </p:sp>
      </p:grpSp>
    </p:spTree>
  </p:cSld>
  <p:clrMapOvr>
    <a:masterClrMapping/>
  </p:clrMapOvr>
  <p:transition spd="fast">
    <p:fade/>
  </p:transition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480674" y="1028700"/>
            <a:ext cx="851827" cy="949111"/>
          </a:xfrm>
          <a:custGeom>
            <a:avLst/>
            <a:gdLst/>
            <a:ahLst/>
            <a:cxnLst/>
            <a:rect r="r" b="b" t="t" l="l"/>
            <a:pathLst>
              <a:path h="949111" w="851827">
                <a:moveTo>
                  <a:pt x="0" y="0"/>
                </a:moveTo>
                <a:lnTo>
                  <a:pt x="851827" y="0"/>
                </a:lnTo>
                <a:lnTo>
                  <a:pt x="851827" y="949111"/>
                </a:lnTo>
                <a:lnTo>
                  <a:pt x="0" y="94911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028700" y="2044767"/>
            <a:ext cx="1755775" cy="3026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15"/>
              </a:lnSpc>
              <a:spcBef>
                <a:spcPct val="0"/>
              </a:spcBef>
            </a:pPr>
            <a:r>
              <a:rPr lang="en-US" b="true" sz="1796">
                <a:solidFill>
                  <a:srgbClr val="388E3C"/>
                </a:solidFill>
                <a:latin typeface="Gotham Bold"/>
                <a:ea typeface="Gotham Bold"/>
                <a:cs typeface="Gotham Bold"/>
                <a:sym typeface="Gotham Bold"/>
              </a:rPr>
              <a:t>Haat Baran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5726461" y="1359959"/>
            <a:ext cx="6835078" cy="9874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6999"/>
              </a:lnSpc>
              <a:spcBef>
                <a:spcPct val="0"/>
              </a:spcBef>
            </a:pPr>
            <a:r>
              <a:rPr lang="en-US" b="true" sz="4999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System Architecture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2856558"/>
            <a:ext cx="11469439" cy="3709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655"/>
              </a:lnSpc>
              <a:spcBef>
                <a:spcPct val="0"/>
              </a:spcBef>
            </a:pPr>
            <a:r>
              <a:rPr lang="en-US" sz="1896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The Haat Baran system is built on a client-server architecture, structured around three core modules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5095233" y="3384797"/>
            <a:ext cx="1870026" cy="1799687"/>
            <a:chOff x="0" y="0"/>
            <a:chExt cx="2493368" cy="2399583"/>
          </a:xfrm>
        </p:grpSpPr>
        <p:grpSp>
          <p:nvGrpSpPr>
            <p:cNvPr name="Group 7" id="7"/>
            <p:cNvGrpSpPr/>
            <p:nvPr/>
          </p:nvGrpSpPr>
          <p:grpSpPr>
            <a:xfrm rot="0">
              <a:off x="0" y="0"/>
              <a:ext cx="2361172" cy="2399583"/>
              <a:chOff x="0" y="0"/>
              <a:chExt cx="568185" cy="577428"/>
            </a:xfrm>
          </p:grpSpPr>
          <p:sp>
            <p:nvSpPr>
              <p:cNvPr name="Freeform 8" id="8"/>
              <p:cNvSpPr/>
              <p:nvPr/>
            </p:nvSpPr>
            <p:spPr>
              <a:xfrm flipH="false" flipV="false" rot="0">
                <a:off x="0" y="0"/>
                <a:ext cx="568185" cy="577428"/>
              </a:xfrm>
              <a:custGeom>
                <a:avLst/>
                <a:gdLst/>
                <a:ahLst/>
                <a:cxnLst/>
                <a:rect r="r" b="b" t="t" l="l"/>
                <a:pathLst>
                  <a:path h="577428" w="568185">
                    <a:moveTo>
                      <a:pt x="190443" y="0"/>
                    </a:moveTo>
                    <a:lnTo>
                      <a:pt x="377742" y="0"/>
                    </a:lnTo>
                    <a:cubicBezTo>
                      <a:pt x="482921" y="0"/>
                      <a:pt x="568185" y="85264"/>
                      <a:pt x="568185" y="190443"/>
                    </a:cubicBezTo>
                    <a:lnTo>
                      <a:pt x="568185" y="386985"/>
                    </a:lnTo>
                    <a:cubicBezTo>
                      <a:pt x="568185" y="437494"/>
                      <a:pt x="548120" y="485933"/>
                      <a:pt x="512405" y="521648"/>
                    </a:cubicBezTo>
                    <a:cubicBezTo>
                      <a:pt x="476690" y="557363"/>
                      <a:pt x="428250" y="577428"/>
                      <a:pt x="377742" y="577428"/>
                    </a:cubicBezTo>
                    <a:lnTo>
                      <a:pt x="190443" y="577428"/>
                    </a:lnTo>
                    <a:cubicBezTo>
                      <a:pt x="139934" y="577428"/>
                      <a:pt x="91494" y="557363"/>
                      <a:pt x="55779" y="521648"/>
                    </a:cubicBezTo>
                    <a:cubicBezTo>
                      <a:pt x="20064" y="485933"/>
                      <a:pt x="0" y="437494"/>
                      <a:pt x="0" y="386985"/>
                    </a:cubicBezTo>
                    <a:lnTo>
                      <a:pt x="0" y="190443"/>
                    </a:lnTo>
                    <a:cubicBezTo>
                      <a:pt x="0" y="139934"/>
                      <a:pt x="20064" y="91494"/>
                      <a:pt x="55779" y="55779"/>
                    </a:cubicBezTo>
                    <a:cubicBezTo>
                      <a:pt x="91494" y="20064"/>
                      <a:pt x="139934" y="0"/>
                      <a:pt x="190443" y="0"/>
                    </a:cubicBezTo>
                    <a:close/>
                  </a:path>
                </a:pathLst>
              </a:custGeom>
              <a:solidFill>
                <a:srgbClr val="1E89D5"/>
              </a:solidFill>
              <a:ln w="28575" cap="rnd">
                <a:solidFill>
                  <a:srgbClr val="000000"/>
                </a:solidFill>
                <a:prstDash val="solid"/>
                <a:round/>
              </a:ln>
            </p:spPr>
          </p:sp>
          <p:sp>
            <p:nvSpPr>
              <p:cNvPr name="TextBox 9" id="9"/>
              <p:cNvSpPr txBox="true"/>
              <p:nvPr/>
            </p:nvSpPr>
            <p:spPr>
              <a:xfrm>
                <a:off x="0" y="-28575"/>
                <a:ext cx="568185" cy="606003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160"/>
                  </a:lnSpc>
                </a:pPr>
              </a:p>
            </p:txBody>
          </p:sp>
        </p:grpSp>
        <p:grpSp>
          <p:nvGrpSpPr>
            <p:cNvPr name="Group 10" id="10"/>
            <p:cNvGrpSpPr/>
            <p:nvPr/>
          </p:nvGrpSpPr>
          <p:grpSpPr>
            <a:xfrm rot="0">
              <a:off x="132196" y="0"/>
              <a:ext cx="2361172" cy="2399583"/>
              <a:chOff x="0" y="0"/>
              <a:chExt cx="568185" cy="577428"/>
            </a:xfrm>
          </p:grpSpPr>
          <p:sp>
            <p:nvSpPr>
              <p:cNvPr name="Freeform 11" id="11"/>
              <p:cNvSpPr/>
              <p:nvPr/>
            </p:nvSpPr>
            <p:spPr>
              <a:xfrm flipH="false" flipV="false" rot="0">
                <a:off x="0" y="0"/>
                <a:ext cx="568185" cy="577428"/>
              </a:xfrm>
              <a:custGeom>
                <a:avLst/>
                <a:gdLst/>
                <a:ahLst/>
                <a:cxnLst/>
                <a:rect r="r" b="b" t="t" l="l"/>
                <a:pathLst>
                  <a:path h="577428" w="568185">
                    <a:moveTo>
                      <a:pt x="190443" y="0"/>
                    </a:moveTo>
                    <a:lnTo>
                      <a:pt x="377742" y="0"/>
                    </a:lnTo>
                    <a:cubicBezTo>
                      <a:pt x="482921" y="0"/>
                      <a:pt x="568185" y="85264"/>
                      <a:pt x="568185" y="190443"/>
                    </a:cubicBezTo>
                    <a:lnTo>
                      <a:pt x="568185" y="386985"/>
                    </a:lnTo>
                    <a:cubicBezTo>
                      <a:pt x="568185" y="437494"/>
                      <a:pt x="548120" y="485933"/>
                      <a:pt x="512405" y="521648"/>
                    </a:cubicBezTo>
                    <a:cubicBezTo>
                      <a:pt x="476690" y="557363"/>
                      <a:pt x="428250" y="577428"/>
                      <a:pt x="377742" y="577428"/>
                    </a:cubicBezTo>
                    <a:lnTo>
                      <a:pt x="190443" y="577428"/>
                    </a:lnTo>
                    <a:cubicBezTo>
                      <a:pt x="139934" y="577428"/>
                      <a:pt x="91494" y="557363"/>
                      <a:pt x="55779" y="521648"/>
                    </a:cubicBezTo>
                    <a:cubicBezTo>
                      <a:pt x="20064" y="485933"/>
                      <a:pt x="0" y="437494"/>
                      <a:pt x="0" y="386985"/>
                    </a:cubicBezTo>
                    <a:lnTo>
                      <a:pt x="0" y="190443"/>
                    </a:lnTo>
                    <a:cubicBezTo>
                      <a:pt x="0" y="139934"/>
                      <a:pt x="20064" y="91494"/>
                      <a:pt x="55779" y="55779"/>
                    </a:cubicBezTo>
                    <a:cubicBezTo>
                      <a:pt x="91494" y="20064"/>
                      <a:pt x="139934" y="0"/>
                      <a:pt x="190443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28575" cap="rnd">
                <a:solidFill>
                  <a:srgbClr val="000000"/>
                </a:solidFill>
                <a:prstDash val="solid"/>
                <a:round/>
              </a:ln>
            </p:spPr>
          </p:sp>
          <p:sp>
            <p:nvSpPr>
              <p:cNvPr name="TextBox 12" id="12"/>
              <p:cNvSpPr txBox="true"/>
              <p:nvPr/>
            </p:nvSpPr>
            <p:spPr>
              <a:xfrm>
                <a:off x="0" y="-28575"/>
                <a:ext cx="568185" cy="606003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160"/>
                  </a:lnSpc>
                </a:pPr>
              </a:p>
            </p:txBody>
          </p:sp>
        </p:grpSp>
      </p:grpSp>
      <p:sp>
        <p:nvSpPr>
          <p:cNvPr name="Freeform 13" id="13"/>
          <p:cNvSpPr/>
          <p:nvPr/>
        </p:nvSpPr>
        <p:spPr>
          <a:xfrm flipH="false" flipV="false" rot="0">
            <a:off x="5486340" y="3634975"/>
            <a:ext cx="1186960" cy="1186960"/>
          </a:xfrm>
          <a:custGeom>
            <a:avLst/>
            <a:gdLst/>
            <a:ahLst/>
            <a:cxnLst/>
            <a:rect r="r" b="b" t="t" l="l"/>
            <a:pathLst>
              <a:path h="1186960" w="1186960">
                <a:moveTo>
                  <a:pt x="0" y="0"/>
                </a:moveTo>
                <a:lnTo>
                  <a:pt x="1186960" y="0"/>
                </a:lnTo>
                <a:lnTo>
                  <a:pt x="1186960" y="1186959"/>
                </a:lnTo>
                <a:lnTo>
                  <a:pt x="0" y="118695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grpSp>
        <p:nvGrpSpPr>
          <p:cNvPr name="Group 14" id="14"/>
          <p:cNvGrpSpPr/>
          <p:nvPr/>
        </p:nvGrpSpPr>
        <p:grpSpPr>
          <a:xfrm rot="0">
            <a:off x="5095233" y="7859615"/>
            <a:ext cx="1897478" cy="1826106"/>
            <a:chOff x="0" y="0"/>
            <a:chExt cx="2529970" cy="2434808"/>
          </a:xfrm>
        </p:grpSpPr>
        <p:grpSp>
          <p:nvGrpSpPr>
            <p:cNvPr name="Group 15" id="15"/>
            <p:cNvGrpSpPr/>
            <p:nvPr/>
          </p:nvGrpSpPr>
          <p:grpSpPr>
            <a:xfrm rot="0">
              <a:off x="0" y="0"/>
              <a:ext cx="2395833" cy="2434808"/>
              <a:chOff x="0" y="0"/>
              <a:chExt cx="568185" cy="577428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568185" cy="577428"/>
              </a:xfrm>
              <a:custGeom>
                <a:avLst/>
                <a:gdLst/>
                <a:ahLst/>
                <a:cxnLst/>
                <a:rect r="r" b="b" t="t" l="l"/>
                <a:pathLst>
                  <a:path h="577428" w="568185">
                    <a:moveTo>
                      <a:pt x="257646" y="0"/>
                    </a:moveTo>
                    <a:lnTo>
                      <a:pt x="310539" y="0"/>
                    </a:lnTo>
                    <a:cubicBezTo>
                      <a:pt x="452833" y="0"/>
                      <a:pt x="568185" y="115352"/>
                      <a:pt x="568185" y="257646"/>
                    </a:cubicBezTo>
                    <a:lnTo>
                      <a:pt x="568185" y="319782"/>
                    </a:lnTo>
                    <a:cubicBezTo>
                      <a:pt x="568185" y="462076"/>
                      <a:pt x="452833" y="577428"/>
                      <a:pt x="310539" y="577428"/>
                    </a:cubicBezTo>
                    <a:lnTo>
                      <a:pt x="257646" y="577428"/>
                    </a:lnTo>
                    <a:cubicBezTo>
                      <a:pt x="115352" y="577428"/>
                      <a:pt x="0" y="462076"/>
                      <a:pt x="0" y="319782"/>
                    </a:cubicBezTo>
                    <a:lnTo>
                      <a:pt x="0" y="257646"/>
                    </a:lnTo>
                    <a:cubicBezTo>
                      <a:pt x="0" y="115352"/>
                      <a:pt x="115352" y="0"/>
                      <a:pt x="257646" y="0"/>
                    </a:cubicBezTo>
                    <a:close/>
                  </a:path>
                </a:pathLst>
              </a:custGeom>
              <a:solidFill>
                <a:srgbClr val="CB6CE6"/>
              </a:solidFill>
              <a:ln w="28575" cap="rnd">
                <a:solidFill>
                  <a:srgbClr val="000000"/>
                </a:solidFill>
                <a:prstDash val="solid"/>
                <a:round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28575"/>
                <a:ext cx="568185" cy="606003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160"/>
                  </a:lnSpc>
                </a:pPr>
              </a:p>
            </p:txBody>
          </p:sp>
        </p:grpSp>
        <p:grpSp>
          <p:nvGrpSpPr>
            <p:cNvPr name="Group 18" id="18"/>
            <p:cNvGrpSpPr/>
            <p:nvPr/>
          </p:nvGrpSpPr>
          <p:grpSpPr>
            <a:xfrm rot="0">
              <a:off x="134137" y="0"/>
              <a:ext cx="2395833" cy="2434808"/>
              <a:chOff x="0" y="0"/>
              <a:chExt cx="568185" cy="577428"/>
            </a:xfrm>
          </p:grpSpPr>
          <p:sp>
            <p:nvSpPr>
              <p:cNvPr name="Freeform 19" id="19"/>
              <p:cNvSpPr/>
              <p:nvPr/>
            </p:nvSpPr>
            <p:spPr>
              <a:xfrm flipH="false" flipV="false" rot="0">
                <a:off x="0" y="0"/>
                <a:ext cx="568185" cy="577428"/>
              </a:xfrm>
              <a:custGeom>
                <a:avLst/>
                <a:gdLst/>
                <a:ahLst/>
                <a:cxnLst/>
                <a:rect r="r" b="b" t="t" l="l"/>
                <a:pathLst>
                  <a:path h="577428" w="568185">
                    <a:moveTo>
                      <a:pt x="257646" y="0"/>
                    </a:moveTo>
                    <a:lnTo>
                      <a:pt x="310539" y="0"/>
                    </a:lnTo>
                    <a:cubicBezTo>
                      <a:pt x="452833" y="0"/>
                      <a:pt x="568185" y="115352"/>
                      <a:pt x="568185" y="257646"/>
                    </a:cubicBezTo>
                    <a:lnTo>
                      <a:pt x="568185" y="319782"/>
                    </a:lnTo>
                    <a:cubicBezTo>
                      <a:pt x="568185" y="462076"/>
                      <a:pt x="452833" y="577428"/>
                      <a:pt x="310539" y="577428"/>
                    </a:cubicBezTo>
                    <a:lnTo>
                      <a:pt x="257646" y="577428"/>
                    </a:lnTo>
                    <a:cubicBezTo>
                      <a:pt x="115352" y="577428"/>
                      <a:pt x="0" y="462076"/>
                      <a:pt x="0" y="319782"/>
                    </a:cubicBezTo>
                    <a:lnTo>
                      <a:pt x="0" y="257646"/>
                    </a:lnTo>
                    <a:cubicBezTo>
                      <a:pt x="0" y="115352"/>
                      <a:pt x="115352" y="0"/>
                      <a:pt x="257646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28575" cap="rnd">
                <a:solidFill>
                  <a:srgbClr val="000000"/>
                </a:solidFill>
                <a:prstDash val="solid"/>
                <a:round/>
              </a:ln>
            </p:spPr>
          </p:sp>
          <p:sp>
            <p:nvSpPr>
              <p:cNvPr name="TextBox 20" id="20"/>
              <p:cNvSpPr txBox="true"/>
              <p:nvPr/>
            </p:nvSpPr>
            <p:spPr>
              <a:xfrm>
                <a:off x="0" y="-28575"/>
                <a:ext cx="568185" cy="606003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160"/>
                  </a:lnSpc>
                </a:pPr>
              </a:p>
            </p:txBody>
          </p:sp>
        </p:grpSp>
      </p:grpSp>
      <p:sp>
        <p:nvSpPr>
          <p:cNvPr name="Freeform 21" id="21"/>
          <p:cNvSpPr/>
          <p:nvPr/>
        </p:nvSpPr>
        <p:spPr>
          <a:xfrm flipH="false" flipV="false" rot="0">
            <a:off x="5492082" y="8170477"/>
            <a:ext cx="1204384" cy="1204384"/>
          </a:xfrm>
          <a:custGeom>
            <a:avLst/>
            <a:gdLst/>
            <a:ahLst/>
            <a:cxnLst/>
            <a:rect r="r" b="b" t="t" l="l"/>
            <a:pathLst>
              <a:path h="1204384" w="1204384">
                <a:moveTo>
                  <a:pt x="0" y="0"/>
                </a:moveTo>
                <a:lnTo>
                  <a:pt x="1204383" y="0"/>
                </a:lnTo>
                <a:lnTo>
                  <a:pt x="1204383" y="1204383"/>
                </a:lnTo>
                <a:lnTo>
                  <a:pt x="0" y="120438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grpSp>
        <p:nvGrpSpPr>
          <p:cNvPr name="Group 22" id="22"/>
          <p:cNvGrpSpPr/>
          <p:nvPr/>
        </p:nvGrpSpPr>
        <p:grpSpPr>
          <a:xfrm rot="0">
            <a:off x="8331347" y="5524356"/>
            <a:ext cx="2073376" cy="1995388"/>
            <a:chOff x="0" y="0"/>
            <a:chExt cx="2764502" cy="2660518"/>
          </a:xfrm>
        </p:grpSpPr>
        <p:grpSp>
          <p:nvGrpSpPr>
            <p:cNvPr name="Group 23" id="23"/>
            <p:cNvGrpSpPr/>
            <p:nvPr/>
          </p:nvGrpSpPr>
          <p:grpSpPr>
            <a:xfrm rot="0">
              <a:off x="0" y="0"/>
              <a:ext cx="2617930" cy="2660518"/>
              <a:chOff x="0" y="0"/>
              <a:chExt cx="568185" cy="577428"/>
            </a:xfrm>
          </p:grpSpPr>
          <p:sp>
            <p:nvSpPr>
              <p:cNvPr name="Freeform 24" id="24"/>
              <p:cNvSpPr/>
              <p:nvPr/>
            </p:nvSpPr>
            <p:spPr>
              <a:xfrm flipH="false" flipV="false" rot="0">
                <a:off x="0" y="0"/>
                <a:ext cx="568185" cy="577428"/>
              </a:xfrm>
              <a:custGeom>
                <a:avLst/>
                <a:gdLst/>
                <a:ahLst/>
                <a:cxnLst/>
                <a:rect r="r" b="b" t="t" l="l"/>
                <a:pathLst>
                  <a:path h="577428" w="568185">
                    <a:moveTo>
                      <a:pt x="235788" y="0"/>
                    </a:moveTo>
                    <a:lnTo>
                      <a:pt x="332397" y="0"/>
                    </a:lnTo>
                    <a:cubicBezTo>
                      <a:pt x="462619" y="0"/>
                      <a:pt x="568185" y="105566"/>
                      <a:pt x="568185" y="235788"/>
                    </a:cubicBezTo>
                    <a:lnTo>
                      <a:pt x="568185" y="341640"/>
                    </a:lnTo>
                    <a:cubicBezTo>
                      <a:pt x="568185" y="404175"/>
                      <a:pt x="543343" y="464148"/>
                      <a:pt x="499124" y="508367"/>
                    </a:cubicBezTo>
                    <a:cubicBezTo>
                      <a:pt x="454905" y="552586"/>
                      <a:pt x="394932" y="577428"/>
                      <a:pt x="332397" y="577428"/>
                    </a:cubicBezTo>
                    <a:lnTo>
                      <a:pt x="235788" y="577428"/>
                    </a:lnTo>
                    <a:cubicBezTo>
                      <a:pt x="105566" y="577428"/>
                      <a:pt x="0" y="471862"/>
                      <a:pt x="0" y="341640"/>
                    </a:cubicBezTo>
                    <a:lnTo>
                      <a:pt x="0" y="235788"/>
                    </a:lnTo>
                    <a:cubicBezTo>
                      <a:pt x="0" y="105566"/>
                      <a:pt x="105566" y="0"/>
                      <a:pt x="235788" y="0"/>
                    </a:cubicBezTo>
                    <a:close/>
                  </a:path>
                </a:pathLst>
              </a:custGeom>
              <a:solidFill>
                <a:srgbClr val="064D6D"/>
              </a:solidFill>
              <a:ln w="28575" cap="rnd">
                <a:solidFill>
                  <a:srgbClr val="000000"/>
                </a:solidFill>
                <a:prstDash val="solid"/>
                <a:round/>
              </a:ln>
            </p:spPr>
          </p:sp>
          <p:sp>
            <p:nvSpPr>
              <p:cNvPr name="TextBox 25" id="25"/>
              <p:cNvSpPr txBox="true"/>
              <p:nvPr/>
            </p:nvSpPr>
            <p:spPr>
              <a:xfrm>
                <a:off x="0" y="-28575"/>
                <a:ext cx="568185" cy="606003"/>
              </a:xfrm>
              <a:prstGeom prst="rect">
                <a:avLst/>
              </a:prstGeom>
            </p:spPr>
            <p:txBody>
              <a:bodyPr anchor="ctr" rtlCol="false" tIns="55509" lIns="55509" bIns="55509" rIns="55509"/>
              <a:lstStyle/>
              <a:p>
                <a:pPr algn="ctr">
                  <a:lnSpc>
                    <a:spcPts val="2160"/>
                  </a:lnSpc>
                </a:pPr>
              </a:p>
            </p:txBody>
          </p:sp>
        </p:grpSp>
        <p:grpSp>
          <p:nvGrpSpPr>
            <p:cNvPr name="Group 26" id="26"/>
            <p:cNvGrpSpPr/>
            <p:nvPr/>
          </p:nvGrpSpPr>
          <p:grpSpPr>
            <a:xfrm rot="0">
              <a:off x="146572" y="0"/>
              <a:ext cx="2617930" cy="2660518"/>
              <a:chOff x="0" y="0"/>
              <a:chExt cx="568185" cy="577428"/>
            </a:xfrm>
          </p:grpSpPr>
          <p:sp>
            <p:nvSpPr>
              <p:cNvPr name="Freeform 27" id="27"/>
              <p:cNvSpPr/>
              <p:nvPr/>
            </p:nvSpPr>
            <p:spPr>
              <a:xfrm flipH="false" flipV="false" rot="0">
                <a:off x="0" y="0"/>
                <a:ext cx="568185" cy="577428"/>
              </a:xfrm>
              <a:custGeom>
                <a:avLst/>
                <a:gdLst/>
                <a:ahLst/>
                <a:cxnLst/>
                <a:rect r="r" b="b" t="t" l="l"/>
                <a:pathLst>
                  <a:path h="577428" w="568185">
                    <a:moveTo>
                      <a:pt x="235788" y="0"/>
                    </a:moveTo>
                    <a:lnTo>
                      <a:pt x="332397" y="0"/>
                    </a:lnTo>
                    <a:cubicBezTo>
                      <a:pt x="462619" y="0"/>
                      <a:pt x="568185" y="105566"/>
                      <a:pt x="568185" y="235788"/>
                    </a:cubicBezTo>
                    <a:lnTo>
                      <a:pt x="568185" y="341640"/>
                    </a:lnTo>
                    <a:cubicBezTo>
                      <a:pt x="568185" y="404175"/>
                      <a:pt x="543343" y="464148"/>
                      <a:pt x="499124" y="508367"/>
                    </a:cubicBezTo>
                    <a:cubicBezTo>
                      <a:pt x="454905" y="552586"/>
                      <a:pt x="394932" y="577428"/>
                      <a:pt x="332397" y="577428"/>
                    </a:cubicBezTo>
                    <a:lnTo>
                      <a:pt x="235788" y="577428"/>
                    </a:lnTo>
                    <a:cubicBezTo>
                      <a:pt x="105566" y="577428"/>
                      <a:pt x="0" y="471862"/>
                      <a:pt x="0" y="341640"/>
                    </a:cubicBezTo>
                    <a:lnTo>
                      <a:pt x="0" y="235788"/>
                    </a:lnTo>
                    <a:cubicBezTo>
                      <a:pt x="0" y="105566"/>
                      <a:pt x="105566" y="0"/>
                      <a:pt x="235788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28575" cap="rnd">
                <a:solidFill>
                  <a:srgbClr val="000000"/>
                </a:solidFill>
                <a:prstDash val="solid"/>
                <a:round/>
              </a:ln>
            </p:spPr>
          </p:sp>
          <p:sp>
            <p:nvSpPr>
              <p:cNvPr name="TextBox 28" id="28"/>
              <p:cNvSpPr txBox="true"/>
              <p:nvPr/>
            </p:nvSpPr>
            <p:spPr>
              <a:xfrm>
                <a:off x="0" y="-28575"/>
                <a:ext cx="568185" cy="606003"/>
              </a:xfrm>
              <a:prstGeom prst="rect">
                <a:avLst/>
              </a:prstGeom>
            </p:spPr>
            <p:txBody>
              <a:bodyPr anchor="ctr" rtlCol="false" tIns="55509" lIns="55509" bIns="55509" rIns="55509"/>
              <a:lstStyle/>
              <a:p>
                <a:pPr algn="ctr">
                  <a:lnSpc>
                    <a:spcPts val="2160"/>
                  </a:lnSpc>
                </a:pPr>
              </a:p>
            </p:txBody>
          </p:sp>
        </p:grpSp>
      </p:grpSp>
      <p:sp>
        <p:nvSpPr>
          <p:cNvPr name="Freeform 29" id="29"/>
          <p:cNvSpPr/>
          <p:nvPr/>
        </p:nvSpPr>
        <p:spPr>
          <a:xfrm flipH="false" flipV="false" rot="0">
            <a:off x="8753166" y="5845572"/>
            <a:ext cx="1349348" cy="1352956"/>
          </a:xfrm>
          <a:custGeom>
            <a:avLst/>
            <a:gdLst/>
            <a:ahLst/>
            <a:cxnLst/>
            <a:rect r="r" b="b" t="t" l="l"/>
            <a:pathLst>
              <a:path h="1352956" w="1349348">
                <a:moveTo>
                  <a:pt x="0" y="0"/>
                </a:moveTo>
                <a:lnTo>
                  <a:pt x="1349347" y="0"/>
                </a:lnTo>
                <a:lnTo>
                  <a:pt x="1349347" y="1352956"/>
                </a:lnTo>
                <a:lnTo>
                  <a:pt x="0" y="1352956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0" id="30"/>
          <p:cNvGrpSpPr/>
          <p:nvPr/>
        </p:nvGrpSpPr>
        <p:grpSpPr>
          <a:xfrm rot="0">
            <a:off x="8419296" y="3384797"/>
            <a:ext cx="1897478" cy="1826106"/>
            <a:chOff x="0" y="0"/>
            <a:chExt cx="2529970" cy="2434808"/>
          </a:xfrm>
        </p:grpSpPr>
        <p:grpSp>
          <p:nvGrpSpPr>
            <p:cNvPr name="Group 31" id="31"/>
            <p:cNvGrpSpPr/>
            <p:nvPr/>
          </p:nvGrpSpPr>
          <p:grpSpPr>
            <a:xfrm rot="0">
              <a:off x="0" y="0"/>
              <a:ext cx="2395833" cy="2434808"/>
              <a:chOff x="0" y="0"/>
              <a:chExt cx="568185" cy="577428"/>
            </a:xfrm>
          </p:grpSpPr>
          <p:sp>
            <p:nvSpPr>
              <p:cNvPr name="Freeform 32" id="32"/>
              <p:cNvSpPr/>
              <p:nvPr/>
            </p:nvSpPr>
            <p:spPr>
              <a:xfrm flipH="false" flipV="false" rot="0">
                <a:off x="0" y="0"/>
                <a:ext cx="568185" cy="577428"/>
              </a:xfrm>
              <a:custGeom>
                <a:avLst/>
                <a:gdLst/>
                <a:ahLst/>
                <a:cxnLst/>
                <a:rect r="r" b="b" t="t" l="l"/>
                <a:pathLst>
                  <a:path h="577428" w="568185">
                    <a:moveTo>
                      <a:pt x="257646" y="0"/>
                    </a:moveTo>
                    <a:lnTo>
                      <a:pt x="310539" y="0"/>
                    </a:lnTo>
                    <a:cubicBezTo>
                      <a:pt x="452833" y="0"/>
                      <a:pt x="568185" y="115352"/>
                      <a:pt x="568185" y="257646"/>
                    </a:cubicBezTo>
                    <a:lnTo>
                      <a:pt x="568185" y="319782"/>
                    </a:lnTo>
                    <a:cubicBezTo>
                      <a:pt x="568185" y="462076"/>
                      <a:pt x="452833" y="577428"/>
                      <a:pt x="310539" y="577428"/>
                    </a:cubicBezTo>
                    <a:lnTo>
                      <a:pt x="257646" y="577428"/>
                    </a:lnTo>
                    <a:cubicBezTo>
                      <a:pt x="115352" y="577428"/>
                      <a:pt x="0" y="462076"/>
                      <a:pt x="0" y="319782"/>
                    </a:cubicBezTo>
                    <a:lnTo>
                      <a:pt x="0" y="257646"/>
                    </a:lnTo>
                    <a:cubicBezTo>
                      <a:pt x="0" y="115352"/>
                      <a:pt x="115352" y="0"/>
                      <a:pt x="257646" y="0"/>
                    </a:cubicBezTo>
                    <a:close/>
                  </a:path>
                </a:pathLst>
              </a:custGeom>
              <a:solidFill>
                <a:srgbClr val="CB6CE6"/>
              </a:solidFill>
              <a:ln w="28575" cap="rnd">
                <a:solidFill>
                  <a:srgbClr val="000000"/>
                </a:solidFill>
                <a:prstDash val="solid"/>
                <a:round/>
              </a:ln>
            </p:spPr>
          </p:sp>
          <p:sp>
            <p:nvSpPr>
              <p:cNvPr name="TextBox 33" id="33"/>
              <p:cNvSpPr txBox="true"/>
              <p:nvPr/>
            </p:nvSpPr>
            <p:spPr>
              <a:xfrm>
                <a:off x="0" y="-28575"/>
                <a:ext cx="568185" cy="606003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160"/>
                  </a:lnSpc>
                </a:pPr>
              </a:p>
            </p:txBody>
          </p:sp>
        </p:grpSp>
        <p:grpSp>
          <p:nvGrpSpPr>
            <p:cNvPr name="Group 34" id="34"/>
            <p:cNvGrpSpPr/>
            <p:nvPr/>
          </p:nvGrpSpPr>
          <p:grpSpPr>
            <a:xfrm rot="0">
              <a:off x="134137" y="0"/>
              <a:ext cx="2395833" cy="2434808"/>
              <a:chOff x="0" y="0"/>
              <a:chExt cx="568185" cy="577428"/>
            </a:xfrm>
          </p:grpSpPr>
          <p:sp>
            <p:nvSpPr>
              <p:cNvPr name="Freeform 35" id="35"/>
              <p:cNvSpPr/>
              <p:nvPr/>
            </p:nvSpPr>
            <p:spPr>
              <a:xfrm flipH="false" flipV="false" rot="0">
                <a:off x="0" y="0"/>
                <a:ext cx="568185" cy="577428"/>
              </a:xfrm>
              <a:custGeom>
                <a:avLst/>
                <a:gdLst/>
                <a:ahLst/>
                <a:cxnLst/>
                <a:rect r="r" b="b" t="t" l="l"/>
                <a:pathLst>
                  <a:path h="577428" w="568185">
                    <a:moveTo>
                      <a:pt x="257646" y="0"/>
                    </a:moveTo>
                    <a:lnTo>
                      <a:pt x="310539" y="0"/>
                    </a:lnTo>
                    <a:cubicBezTo>
                      <a:pt x="452833" y="0"/>
                      <a:pt x="568185" y="115352"/>
                      <a:pt x="568185" y="257646"/>
                    </a:cubicBezTo>
                    <a:lnTo>
                      <a:pt x="568185" y="319782"/>
                    </a:lnTo>
                    <a:cubicBezTo>
                      <a:pt x="568185" y="462076"/>
                      <a:pt x="452833" y="577428"/>
                      <a:pt x="310539" y="577428"/>
                    </a:cubicBezTo>
                    <a:lnTo>
                      <a:pt x="257646" y="577428"/>
                    </a:lnTo>
                    <a:cubicBezTo>
                      <a:pt x="115352" y="577428"/>
                      <a:pt x="0" y="462076"/>
                      <a:pt x="0" y="319782"/>
                    </a:cubicBezTo>
                    <a:lnTo>
                      <a:pt x="0" y="257646"/>
                    </a:lnTo>
                    <a:cubicBezTo>
                      <a:pt x="0" y="115352"/>
                      <a:pt x="115352" y="0"/>
                      <a:pt x="257646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28575" cap="rnd">
                <a:solidFill>
                  <a:srgbClr val="000000"/>
                </a:solidFill>
                <a:prstDash val="solid"/>
                <a:round/>
              </a:ln>
            </p:spPr>
          </p:sp>
          <p:sp>
            <p:nvSpPr>
              <p:cNvPr name="TextBox 36" id="36"/>
              <p:cNvSpPr txBox="true"/>
              <p:nvPr/>
            </p:nvSpPr>
            <p:spPr>
              <a:xfrm>
                <a:off x="0" y="-28575"/>
                <a:ext cx="568185" cy="606003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160"/>
                  </a:lnSpc>
                </a:pPr>
              </a:p>
            </p:txBody>
          </p:sp>
        </p:grpSp>
      </p:grpSp>
      <p:sp>
        <p:nvSpPr>
          <p:cNvPr name="Freeform 37" id="37"/>
          <p:cNvSpPr/>
          <p:nvPr/>
        </p:nvSpPr>
        <p:spPr>
          <a:xfrm flipH="false" flipV="false" rot="0">
            <a:off x="8823442" y="3845881"/>
            <a:ext cx="1186552" cy="903937"/>
          </a:xfrm>
          <a:custGeom>
            <a:avLst/>
            <a:gdLst/>
            <a:ahLst/>
            <a:cxnLst/>
            <a:rect r="r" b="b" t="t" l="l"/>
            <a:pathLst>
              <a:path h="903937" w="1186552">
                <a:moveTo>
                  <a:pt x="0" y="0"/>
                </a:moveTo>
                <a:lnTo>
                  <a:pt x="1186552" y="0"/>
                </a:lnTo>
                <a:lnTo>
                  <a:pt x="1186552" y="903938"/>
                </a:lnTo>
                <a:lnTo>
                  <a:pt x="0" y="903938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8" id="38"/>
          <p:cNvGrpSpPr/>
          <p:nvPr/>
        </p:nvGrpSpPr>
        <p:grpSpPr>
          <a:xfrm rot="0">
            <a:off x="5164247" y="5608997"/>
            <a:ext cx="1796875" cy="1826106"/>
            <a:chOff x="0" y="0"/>
            <a:chExt cx="568185" cy="577428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568185" cy="577428"/>
            </a:xfrm>
            <a:custGeom>
              <a:avLst/>
              <a:gdLst/>
              <a:ahLst/>
              <a:cxnLst/>
              <a:rect r="r" b="b" t="t" l="l"/>
              <a:pathLst>
                <a:path h="577428" w="568185">
                  <a:moveTo>
                    <a:pt x="168033" y="0"/>
                  </a:moveTo>
                  <a:lnTo>
                    <a:pt x="400151" y="0"/>
                  </a:lnTo>
                  <a:cubicBezTo>
                    <a:pt x="492954" y="0"/>
                    <a:pt x="568185" y="75231"/>
                    <a:pt x="568185" y="168033"/>
                  </a:cubicBezTo>
                  <a:lnTo>
                    <a:pt x="568185" y="409394"/>
                  </a:lnTo>
                  <a:cubicBezTo>
                    <a:pt x="568185" y="453960"/>
                    <a:pt x="550481" y="496700"/>
                    <a:pt x="518969" y="528212"/>
                  </a:cubicBezTo>
                  <a:cubicBezTo>
                    <a:pt x="487456" y="559724"/>
                    <a:pt x="444717" y="577428"/>
                    <a:pt x="400151" y="577428"/>
                  </a:cubicBezTo>
                  <a:lnTo>
                    <a:pt x="168033" y="577428"/>
                  </a:lnTo>
                  <a:cubicBezTo>
                    <a:pt x="75231" y="577428"/>
                    <a:pt x="0" y="502197"/>
                    <a:pt x="0" y="409394"/>
                  </a:cubicBezTo>
                  <a:lnTo>
                    <a:pt x="0" y="168033"/>
                  </a:lnTo>
                  <a:cubicBezTo>
                    <a:pt x="0" y="75231"/>
                    <a:pt x="75231" y="0"/>
                    <a:pt x="168033" y="0"/>
                  </a:cubicBezTo>
                  <a:close/>
                </a:path>
              </a:pathLst>
            </a:custGeom>
            <a:solidFill>
              <a:srgbClr val="F05F63"/>
            </a:solidFill>
            <a:ln w="28575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40" id="40"/>
            <p:cNvSpPr txBox="true"/>
            <p:nvPr/>
          </p:nvSpPr>
          <p:spPr>
            <a:xfrm>
              <a:off x="0" y="-28575"/>
              <a:ext cx="568185" cy="60600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60"/>
                </a:lnSpc>
              </a:pPr>
            </a:p>
          </p:txBody>
        </p:sp>
      </p:grpSp>
      <p:grpSp>
        <p:nvGrpSpPr>
          <p:cNvPr name="Group 41" id="41"/>
          <p:cNvGrpSpPr/>
          <p:nvPr/>
        </p:nvGrpSpPr>
        <p:grpSpPr>
          <a:xfrm rot="0">
            <a:off x="5264849" y="5608997"/>
            <a:ext cx="1796875" cy="1826106"/>
            <a:chOff x="0" y="0"/>
            <a:chExt cx="568185" cy="577428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568185" cy="577428"/>
            </a:xfrm>
            <a:custGeom>
              <a:avLst/>
              <a:gdLst/>
              <a:ahLst/>
              <a:cxnLst/>
              <a:rect r="r" b="b" t="t" l="l"/>
              <a:pathLst>
                <a:path h="577428" w="568185">
                  <a:moveTo>
                    <a:pt x="168033" y="0"/>
                  </a:moveTo>
                  <a:lnTo>
                    <a:pt x="400151" y="0"/>
                  </a:lnTo>
                  <a:cubicBezTo>
                    <a:pt x="492954" y="0"/>
                    <a:pt x="568185" y="75231"/>
                    <a:pt x="568185" y="168033"/>
                  </a:cubicBezTo>
                  <a:lnTo>
                    <a:pt x="568185" y="409394"/>
                  </a:lnTo>
                  <a:cubicBezTo>
                    <a:pt x="568185" y="453960"/>
                    <a:pt x="550481" y="496700"/>
                    <a:pt x="518969" y="528212"/>
                  </a:cubicBezTo>
                  <a:cubicBezTo>
                    <a:pt x="487456" y="559724"/>
                    <a:pt x="444717" y="577428"/>
                    <a:pt x="400151" y="577428"/>
                  </a:cubicBezTo>
                  <a:lnTo>
                    <a:pt x="168033" y="577428"/>
                  </a:lnTo>
                  <a:cubicBezTo>
                    <a:pt x="75231" y="577428"/>
                    <a:pt x="0" y="502197"/>
                    <a:pt x="0" y="409394"/>
                  </a:cubicBezTo>
                  <a:lnTo>
                    <a:pt x="0" y="168033"/>
                  </a:lnTo>
                  <a:cubicBezTo>
                    <a:pt x="0" y="75231"/>
                    <a:pt x="75231" y="0"/>
                    <a:pt x="168033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43" id="43"/>
            <p:cNvSpPr txBox="true"/>
            <p:nvPr/>
          </p:nvSpPr>
          <p:spPr>
            <a:xfrm>
              <a:off x="0" y="-28575"/>
              <a:ext cx="568185" cy="60600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60"/>
                </a:lnSpc>
              </a:pPr>
            </a:p>
          </p:txBody>
        </p:sp>
      </p:grpSp>
      <p:sp>
        <p:nvSpPr>
          <p:cNvPr name="Freeform 44" id="44"/>
          <p:cNvSpPr/>
          <p:nvPr/>
        </p:nvSpPr>
        <p:spPr>
          <a:xfrm flipH="false" flipV="false" rot="0">
            <a:off x="5641098" y="5923404"/>
            <a:ext cx="975386" cy="1161174"/>
          </a:xfrm>
          <a:custGeom>
            <a:avLst/>
            <a:gdLst/>
            <a:ahLst/>
            <a:cxnLst/>
            <a:rect r="r" b="b" t="t" l="l"/>
            <a:pathLst>
              <a:path h="1161174" w="975386">
                <a:moveTo>
                  <a:pt x="0" y="0"/>
                </a:moveTo>
                <a:lnTo>
                  <a:pt x="975386" y="0"/>
                </a:lnTo>
                <a:lnTo>
                  <a:pt x="975386" y="1161174"/>
                </a:lnTo>
                <a:lnTo>
                  <a:pt x="0" y="1161174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</p:sp>
      <p:grpSp>
        <p:nvGrpSpPr>
          <p:cNvPr name="Group 45" id="45"/>
          <p:cNvGrpSpPr/>
          <p:nvPr/>
        </p:nvGrpSpPr>
        <p:grpSpPr>
          <a:xfrm rot="0">
            <a:off x="8419296" y="7859615"/>
            <a:ext cx="1796875" cy="1826106"/>
            <a:chOff x="0" y="0"/>
            <a:chExt cx="568185" cy="577428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568185" cy="577428"/>
            </a:xfrm>
            <a:custGeom>
              <a:avLst/>
              <a:gdLst/>
              <a:ahLst/>
              <a:cxnLst/>
              <a:rect r="r" b="b" t="t" l="l"/>
              <a:pathLst>
                <a:path h="577428" w="568185">
                  <a:moveTo>
                    <a:pt x="168033" y="0"/>
                  </a:moveTo>
                  <a:lnTo>
                    <a:pt x="400151" y="0"/>
                  </a:lnTo>
                  <a:cubicBezTo>
                    <a:pt x="492954" y="0"/>
                    <a:pt x="568185" y="75231"/>
                    <a:pt x="568185" y="168033"/>
                  </a:cubicBezTo>
                  <a:lnTo>
                    <a:pt x="568185" y="409394"/>
                  </a:lnTo>
                  <a:cubicBezTo>
                    <a:pt x="568185" y="453960"/>
                    <a:pt x="550481" y="496700"/>
                    <a:pt x="518969" y="528212"/>
                  </a:cubicBezTo>
                  <a:cubicBezTo>
                    <a:pt x="487456" y="559724"/>
                    <a:pt x="444717" y="577428"/>
                    <a:pt x="400151" y="577428"/>
                  </a:cubicBezTo>
                  <a:lnTo>
                    <a:pt x="168033" y="577428"/>
                  </a:lnTo>
                  <a:cubicBezTo>
                    <a:pt x="75231" y="577428"/>
                    <a:pt x="0" y="502197"/>
                    <a:pt x="0" y="409394"/>
                  </a:cubicBezTo>
                  <a:lnTo>
                    <a:pt x="0" y="168033"/>
                  </a:lnTo>
                  <a:cubicBezTo>
                    <a:pt x="0" y="75231"/>
                    <a:pt x="75231" y="0"/>
                    <a:pt x="168033" y="0"/>
                  </a:cubicBezTo>
                  <a:close/>
                </a:path>
              </a:pathLst>
            </a:custGeom>
            <a:solidFill>
              <a:srgbClr val="7ED957"/>
            </a:solidFill>
            <a:ln w="28575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47" id="47"/>
            <p:cNvSpPr txBox="true"/>
            <p:nvPr/>
          </p:nvSpPr>
          <p:spPr>
            <a:xfrm>
              <a:off x="0" y="-28575"/>
              <a:ext cx="568185" cy="60600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60"/>
                </a:lnSpc>
              </a:pPr>
            </a:p>
          </p:txBody>
        </p:sp>
      </p:grpSp>
      <p:grpSp>
        <p:nvGrpSpPr>
          <p:cNvPr name="Group 48" id="48"/>
          <p:cNvGrpSpPr/>
          <p:nvPr/>
        </p:nvGrpSpPr>
        <p:grpSpPr>
          <a:xfrm rot="0">
            <a:off x="8519899" y="7859615"/>
            <a:ext cx="1796875" cy="1826106"/>
            <a:chOff x="0" y="0"/>
            <a:chExt cx="568185" cy="577428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568185" cy="577428"/>
            </a:xfrm>
            <a:custGeom>
              <a:avLst/>
              <a:gdLst/>
              <a:ahLst/>
              <a:cxnLst/>
              <a:rect r="r" b="b" t="t" l="l"/>
              <a:pathLst>
                <a:path h="577428" w="568185">
                  <a:moveTo>
                    <a:pt x="168033" y="0"/>
                  </a:moveTo>
                  <a:lnTo>
                    <a:pt x="400151" y="0"/>
                  </a:lnTo>
                  <a:cubicBezTo>
                    <a:pt x="492954" y="0"/>
                    <a:pt x="568185" y="75231"/>
                    <a:pt x="568185" y="168033"/>
                  </a:cubicBezTo>
                  <a:lnTo>
                    <a:pt x="568185" y="409394"/>
                  </a:lnTo>
                  <a:cubicBezTo>
                    <a:pt x="568185" y="453960"/>
                    <a:pt x="550481" y="496700"/>
                    <a:pt x="518969" y="528212"/>
                  </a:cubicBezTo>
                  <a:cubicBezTo>
                    <a:pt x="487456" y="559724"/>
                    <a:pt x="444717" y="577428"/>
                    <a:pt x="400151" y="577428"/>
                  </a:cubicBezTo>
                  <a:lnTo>
                    <a:pt x="168033" y="577428"/>
                  </a:lnTo>
                  <a:cubicBezTo>
                    <a:pt x="75231" y="577428"/>
                    <a:pt x="0" y="502197"/>
                    <a:pt x="0" y="409394"/>
                  </a:cubicBezTo>
                  <a:lnTo>
                    <a:pt x="0" y="168033"/>
                  </a:lnTo>
                  <a:cubicBezTo>
                    <a:pt x="0" y="75231"/>
                    <a:pt x="75231" y="0"/>
                    <a:pt x="168033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50" id="50"/>
            <p:cNvSpPr txBox="true"/>
            <p:nvPr/>
          </p:nvSpPr>
          <p:spPr>
            <a:xfrm>
              <a:off x="0" y="-28575"/>
              <a:ext cx="568185" cy="60600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60"/>
                </a:lnSpc>
              </a:pPr>
            </a:p>
          </p:txBody>
        </p:sp>
      </p:grpSp>
      <p:sp>
        <p:nvSpPr>
          <p:cNvPr name="AutoShape 51" id="51"/>
          <p:cNvSpPr/>
          <p:nvPr/>
        </p:nvSpPr>
        <p:spPr>
          <a:xfrm>
            <a:off x="6965260" y="4284641"/>
            <a:ext cx="1454036" cy="13209"/>
          </a:xfrm>
          <a:prstGeom prst="line">
            <a:avLst/>
          </a:prstGeom>
          <a:ln cap="flat" w="28575">
            <a:solidFill>
              <a:srgbClr val="000000"/>
            </a:solidFill>
            <a:prstDash val="solid"/>
            <a:headEnd type="triangle" len="med" w="lg"/>
            <a:tailEnd type="arrow" len="sm" w="med"/>
          </a:ln>
        </p:spPr>
      </p:sp>
      <p:sp>
        <p:nvSpPr>
          <p:cNvPr name="AutoShape 52" id="52"/>
          <p:cNvSpPr/>
          <p:nvPr/>
        </p:nvSpPr>
        <p:spPr>
          <a:xfrm>
            <a:off x="7061724" y="6522050"/>
            <a:ext cx="1269622" cy="0"/>
          </a:xfrm>
          <a:prstGeom prst="line">
            <a:avLst/>
          </a:prstGeom>
          <a:ln cap="flat" w="28575">
            <a:solidFill>
              <a:srgbClr val="000000"/>
            </a:solidFill>
            <a:prstDash val="solid"/>
            <a:headEnd type="triangle" len="med" w="lg"/>
            <a:tailEnd type="arrow" len="sm" w="med"/>
          </a:ln>
        </p:spPr>
      </p:sp>
      <p:sp>
        <p:nvSpPr>
          <p:cNvPr name="AutoShape 53" id="53"/>
          <p:cNvSpPr/>
          <p:nvPr/>
        </p:nvSpPr>
        <p:spPr>
          <a:xfrm>
            <a:off x="6992711" y="8772668"/>
            <a:ext cx="1426585" cy="0"/>
          </a:xfrm>
          <a:prstGeom prst="line">
            <a:avLst/>
          </a:prstGeom>
          <a:ln cap="flat" w="28575">
            <a:solidFill>
              <a:srgbClr val="000000"/>
            </a:solidFill>
            <a:prstDash val="solid"/>
            <a:headEnd type="triangle" len="med" w="lg"/>
            <a:tailEnd type="arrow" len="sm" w="med"/>
          </a:ln>
        </p:spPr>
      </p:sp>
      <p:sp>
        <p:nvSpPr>
          <p:cNvPr name="AutoShape 54" id="54"/>
          <p:cNvSpPr/>
          <p:nvPr/>
        </p:nvSpPr>
        <p:spPr>
          <a:xfrm>
            <a:off x="9418324" y="7494600"/>
            <a:ext cx="13" cy="365016"/>
          </a:xfrm>
          <a:prstGeom prst="line">
            <a:avLst/>
          </a:prstGeom>
          <a:ln cap="flat" w="28575">
            <a:solidFill>
              <a:srgbClr val="000000"/>
            </a:solidFill>
            <a:prstDash val="solid"/>
            <a:headEnd type="triangle" len="med" w="lg"/>
            <a:tailEnd type="arrow" len="sm" w="med"/>
          </a:ln>
        </p:spPr>
      </p:sp>
      <p:sp>
        <p:nvSpPr>
          <p:cNvPr name="AutoShape 55" id="55"/>
          <p:cNvSpPr/>
          <p:nvPr/>
        </p:nvSpPr>
        <p:spPr>
          <a:xfrm>
            <a:off x="9368035" y="5210903"/>
            <a:ext cx="0" cy="313453"/>
          </a:xfrm>
          <a:prstGeom prst="line">
            <a:avLst/>
          </a:prstGeom>
          <a:ln cap="flat" w="28575">
            <a:solidFill>
              <a:srgbClr val="000000"/>
            </a:solidFill>
            <a:prstDash val="solid"/>
            <a:headEnd type="triangle" len="med" w="lg"/>
            <a:tailEnd type="arrow" len="sm" w="med"/>
          </a:ln>
        </p:spPr>
      </p:sp>
      <p:grpSp>
        <p:nvGrpSpPr>
          <p:cNvPr name="Group 56" id="56"/>
          <p:cNvGrpSpPr/>
          <p:nvPr/>
        </p:nvGrpSpPr>
        <p:grpSpPr>
          <a:xfrm rot="0">
            <a:off x="11295289" y="3384797"/>
            <a:ext cx="1796875" cy="1826106"/>
            <a:chOff x="0" y="0"/>
            <a:chExt cx="568185" cy="577428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568185" cy="577428"/>
            </a:xfrm>
            <a:custGeom>
              <a:avLst/>
              <a:gdLst/>
              <a:ahLst/>
              <a:cxnLst/>
              <a:rect r="r" b="b" t="t" l="l"/>
              <a:pathLst>
                <a:path h="577428" w="568185">
                  <a:moveTo>
                    <a:pt x="168033" y="0"/>
                  </a:moveTo>
                  <a:lnTo>
                    <a:pt x="400151" y="0"/>
                  </a:lnTo>
                  <a:cubicBezTo>
                    <a:pt x="492954" y="0"/>
                    <a:pt x="568185" y="75231"/>
                    <a:pt x="568185" y="168033"/>
                  </a:cubicBezTo>
                  <a:lnTo>
                    <a:pt x="568185" y="409394"/>
                  </a:lnTo>
                  <a:cubicBezTo>
                    <a:pt x="568185" y="453960"/>
                    <a:pt x="550481" y="496700"/>
                    <a:pt x="518969" y="528212"/>
                  </a:cubicBezTo>
                  <a:cubicBezTo>
                    <a:pt x="487456" y="559724"/>
                    <a:pt x="444717" y="577428"/>
                    <a:pt x="400151" y="577428"/>
                  </a:cubicBezTo>
                  <a:lnTo>
                    <a:pt x="168033" y="577428"/>
                  </a:lnTo>
                  <a:cubicBezTo>
                    <a:pt x="75231" y="577428"/>
                    <a:pt x="0" y="502197"/>
                    <a:pt x="0" y="409394"/>
                  </a:cubicBezTo>
                  <a:lnTo>
                    <a:pt x="0" y="168033"/>
                  </a:lnTo>
                  <a:cubicBezTo>
                    <a:pt x="0" y="75231"/>
                    <a:pt x="75231" y="0"/>
                    <a:pt x="168033" y="0"/>
                  </a:cubicBezTo>
                  <a:close/>
                </a:path>
              </a:pathLst>
            </a:custGeom>
            <a:solidFill>
              <a:srgbClr val="7ED957"/>
            </a:solidFill>
            <a:ln w="28575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58" id="58"/>
            <p:cNvSpPr txBox="true"/>
            <p:nvPr/>
          </p:nvSpPr>
          <p:spPr>
            <a:xfrm>
              <a:off x="0" y="-28575"/>
              <a:ext cx="568185" cy="60600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60"/>
                </a:lnSpc>
              </a:pPr>
            </a:p>
          </p:txBody>
        </p:sp>
      </p:grpSp>
      <p:grpSp>
        <p:nvGrpSpPr>
          <p:cNvPr name="Group 59" id="59"/>
          <p:cNvGrpSpPr/>
          <p:nvPr/>
        </p:nvGrpSpPr>
        <p:grpSpPr>
          <a:xfrm rot="0">
            <a:off x="11395892" y="3384797"/>
            <a:ext cx="1796875" cy="1826106"/>
            <a:chOff x="0" y="0"/>
            <a:chExt cx="568185" cy="577428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0" y="0"/>
              <a:ext cx="568185" cy="577428"/>
            </a:xfrm>
            <a:custGeom>
              <a:avLst/>
              <a:gdLst/>
              <a:ahLst/>
              <a:cxnLst/>
              <a:rect r="r" b="b" t="t" l="l"/>
              <a:pathLst>
                <a:path h="577428" w="568185">
                  <a:moveTo>
                    <a:pt x="168033" y="0"/>
                  </a:moveTo>
                  <a:lnTo>
                    <a:pt x="400151" y="0"/>
                  </a:lnTo>
                  <a:cubicBezTo>
                    <a:pt x="492954" y="0"/>
                    <a:pt x="568185" y="75231"/>
                    <a:pt x="568185" y="168033"/>
                  </a:cubicBezTo>
                  <a:lnTo>
                    <a:pt x="568185" y="409394"/>
                  </a:lnTo>
                  <a:cubicBezTo>
                    <a:pt x="568185" y="453960"/>
                    <a:pt x="550481" y="496700"/>
                    <a:pt x="518969" y="528212"/>
                  </a:cubicBezTo>
                  <a:cubicBezTo>
                    <a:pt x="487456" y="559724"/>
                    <a:pt x="444717" y="577428"/>
                    <a:pt x="400151" y="577428"/>
                  </a:cubicBezTo>
                  <a:lnTo>
                    <a:pt x="168033" y="577428"/>
                  </a:lnTo>
                  <a:cubicBezTo>
                    <a:pt x="75231" y="577428"/>
                    <a:pt x="0" y="502197"/>
                    <a:pt x="0" y="409394"/>
                  </a:cubicBezTo>
                  <a:lnTo>
                    <a:pt x="0" y="168033"/>
                  </a:lnTo>
                  <a:cubicBezTo>
                    <a:pt x="0" y="75231"/>
                    <a:pt x="75231" y="0"/>
                    <a:pt x="168033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61" id="61"/>
            <p:cNvSpPr txBox="true"/>
            <p:nvPr/>
          </p:nvSpPr>
          <p:spPr>
            <a:xfrm>
              <a:off x="0" y="-28575"/>
              <a:ext cx="568185" cy="60600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60"/>
                </a:lnSpc>
              </a:pPr>
            </a:p>
          </p:txBody>
        </p:sp>
      </p:grpSp>
      <p:grpSp>
        <p:nvGrpSpPr>
          <p:cNvPr name="Group 62" id="62"/>
          <p:cNvGrpSpPr/>
          <p:nvPr/>
        </p:nvGrpSpPr>
        <p:grpSpPr>
          <a:xfrm rot="0">
            <a:off x="11295289" y="7814760"/>
            <a:ext cx="1796875" cy="1826106"/>
            <a:chOff x="0" y="0"/>
            <a:chExt cx="568185" cy="577428"/>
          </a:xfrm>
        </p:grpSpPr>
        <p:sp>
          <p:nvSpPr>
            <p:cNvPr name="Freeform 63" id="63"/>
            <p:cNvSpPr/>
            <p:nvPr/>
          </p:nvSpPr>
          <p:spPr>
            <a:xfrm flipH="false" flipV="false" rot="0">
              <a:off x="0" y="0"/>
              <a:ext cx="568185" cy="577428"/>
            </a:xfrm>
            <a:custGeom>
              <a:avLst/>
              <a:gdLst/>
              <a:ahLst/>
              <a:cxnLst/>
              <a:rect r="r" b="b" t="t" l="l"/>
              <a:pathLst>
                <a:path h="577428" w="568185">
                  <a:moveTo>
                    <a:pt x="168033" y="0"/>
                  </a:moveTo>
                  <a:lnTo>
                    <a:pt x="400151" y="0"/>
                  </a:lnTo>
                  <a:cubicBezTo>
                    <a:pt x="492954" y="0"/>
                    <a:pt x="568185" y="75231"/>
                    <a:pt x="568185" y="168033"/>
                  </a:cubicBezTo>
                  <a:lnTo>
                    <a:pt x="568185" y="409394"/>
                  </a:lnTo>
                  <a:cubicBezTo>
                    <a:pt x="568185" y="453960"/>
                    <a:pt x="550481" y="496700"/>
                    <a:pt x="518969" y="528212"/>
                  </a:cubicBezTo>
                  <a:cubicBezTo>
                    <a:pt x="487456" y="559724"/>
                    <a:pt x="444717" y="577428"/>
                    <a:pt x="400151" y="577428"/>
                  </a:cubicBezTo>
                  <a:lnTo>
                    <a:pt x="168033" y="577428"/>
                  </a:lnTo>
                  <a:cubicBezTo>
                    <a:pt x="75231" y="577428"/>
                    <a:pt x="0" y="502197"/>
                    <a:pt x="0" y="409394"/>
                  </a:cubicBezTo>
                  <a:lnTo>
                    <a:pt x="0" y="168033"/>
                  </a:lnTo>
                  <a:cubicBezTo>
                    <a:pt x="0" y="75231"/>
                    <a:pt x="75231" y="0"/>
                    <a:pt x="168033" y="0"/>
                  </a:cubicBezTo>
                  <a:close/>
                </a:path>
              </a:pathLst>
            </a:custGeom>
            <a:solidFill>
              <a:srgbClr val="5CE1E6"/>
            </a:solidFill>
            <a:ln w="28575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64" id="64"/>
            <p:cNvSpPr txBox="true"/>
            <p:nvPr/>
          </p:nvSpPr>
          <p:spPr>
            <a:xfrm>
              <a:off x="0" y="-28575"/>
              <a:ext cx="568185" cy="60600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60"/>
                </a:lnSpc>
              </a:pPr>
            </a:p>
          </p:txBody>
        </p:sp>
      </p:grpSp>
      <p:grpSp>
        <p:nvGrpSpPr>
          <p:cNvPr name="Group 65" id="65"/>
          <p:cNvGrpSpPr/>
          <p:nvPr/>
        </p:nvGrpSpPr>
        <p:grpSpPr>
          <a:xfrm rot="0">
            <a:off x="11395892" y="7814760"/>
            <a:ext cx="1796875" cy="1826106"/>
            <a:chOff x="0" y="0"/>
            <a:chExt cx="568185" cy="577428"/>
          </a:xfrm>
        </p:grpSpPr>
        <p:sp>
          <p:nvSpPr>
            <p:cNvPr name="Freeform 66" id="66"/>
            <p:cNvSpPr/>
            <p:nvPr/>
          </p:nvSpPr>
          <p:spPr>
            <a:xfrm flipH="false" flipV="false" rot="0">
              <a:off x="0" y="0"/>
              <a:ext cx="568185" cy="577428"/>
            </a:xfrm>
            <a:custGeom>
              <a:avLst/>
              <a:gdLst/>
              <a:ahLst/>
              <a:cxnLst/>
              <a:rect r="r" b="b" t="t" l="l"/>
              <a:pathLst>
                <a:path h="577428" w="568185">
                  <a:moveTo>
                    <a:pt x="168033" y="0"/>
                  </a:moveTo>
                  <a:lnTo>
                    <a:pt x="400151" y="0"/>
                  </a:lnTo>
                  <a:cubicBezTo>
                    <a:pt x="492954" y="0"/>
                    <a:pt x="568185" y="75231"/>
                    <a:pt x="568185" y="168033"/>
                  </a:cubicBezTo>
                  <a:lnTo>
                    <a:pt x="568185" y="409394"/>
                  </a:lnTo>
                  <a:cubicBezTo>
                    <a:pt x="568185" y="453960"/>
                    <a:pt x="550481" y="496700"/>
                    <a:pt x="518969" y="528212"/>
                  </a:cubicBezTo>
                  <a:cubicBezTo>
                    <a:pt x="487456" y="559724"/>
                    <a:pt x="444717" y="577428"/>
                    <a:pt x="400151" y="577428"/>
                  </a:cubicBezTo>
                  <a:lnTo>
                    <a:pt x="168033" y="577428"/>
                  </a:lnTo>
                  <a:cubicBezTo>
                    <a:pt x="75231" y="577428"/>
                    <a:pt x="0" y="502197"/>
                    <a:pt x="0" y="409394"/>
                  </a:cubicBezTo>
                  <a:lnTo>
                    <a:pt x="0" y="168033"/>
                  </a:lnTo>
                  <a:cubicBezTo>
                    <a:pt x="0" y="75231"/>
                    <a:pt x="75231" y="0"/>
                    <a:pt x="168033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67" id="67"/>
            <p:cNvSpPr txBox="true"/>
            <p:nvPr/>
          </p:nvSpPr>
          <p:spPr>
            <a:xfrm>
              <a:off x="0" y="-28575"/>
              <a:ext cx="568185" cy="60600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60"/>
                </a:lnSpc>
              </a:pPr>
            </a:p>
          </p:txBody>
        </p:sp>
      </p:grpSp>
      <p:sp>
        <p:nvSpPr>
          <p:cNvPr name="Freeform 68" id="68"/>
          <p:cNvSpPr/>
          <p:nvPr/>
        </p:nvSpPr>
        <p:spPr>
          <a:xfrm flipH="false" flipV="false" rot="0">
            <a:off x="11773874" y="8233387"/>
            <a:ext cx="940308" cy="988852"/>
          </a:xfrm>
          <a:custGeom>
            <a:avLst/>
            <a:gdLst/>
            <a:ahLst/>
            <a:cxnLst/>
            <a:rect r="r" b="b" t="t" l="l"/>
            <a:pathLst>
              <a:path h="988852" w="940308">
                <a:moveTo>
                  <a:pt x="0" y="0"/>
                </a:moveTo>
                <a:lnTo>
                  <a:pt x="940308" y="0"/>
                </a:lnTo>
                <a:lnTo>
                  <a:pt x="940308" y="988852"/>
                </a:lnTo>
                <a:lnTo>
                  <a:pt x="0" y="988852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69" id="69"/>
          <p:cNvSpPr/>
          <p:nvPr/>
        </p:nvSpPr>
        <p:spPr>
          <a:xfrm>
            <a:off x="10316774" y="4297850"/>
            <a:ext cx="978515" cy="0"/>
          </a:xfrm>
          <a:prstGeom prst="line">
            <a:avLst/>
          </a:prstGeom>
          <a:ln cap="flat" w="28575">
            <a:solidFill>
              <a:srgbClr val="000000"/>
            </a:solidFill>
            <a:prstDash val="solid"/>
            <a:headEnd type="triangle" len="med" w="lg"/>
            <a:tailEnd type="arrow" len="sm" w="med"/>
          </a:ln>
        </p:spPr>
      </p:sp>
      <p:sp>
        <p:nvSpPr>
          <p:cNvPr name="AutoShape 70" id="70"/>
          <p:cNvSpPr/>
          <p:nvPr/>
        </p:nvSpPr>
        <p:spPr>
          <a:xfrm flipV="true">
            <a:off x="10316774" y="8765529"/>
            <a:ext cx="928226" cy="7139"/>
          </a:xfrm>
          <a:prstGeom prst="line">
            <a:avLst/>
          </a:prstGeom>
          <a:ln cap="flat" w="28575">
            <a:solidFill>
              <a:srgbClr val="000000"/>
            </a:solidFill>
            <a:prstDash val="solid"/>
            <a:headEnd type="triangle" len="med" w="lg"/>
            <a:tailEnd type="arrow" len="sm" w="med"/>
          </a:ln>
        </p:spPr>
      </p:sp>
      <p:sp>
        <p:nvSpPr>
          <p:cNvPr name="Freeform 71" id="71"/>
          <p:cNvSpPr/>
          <p:nvPr/>
        </p:nvSpPr>
        <p:spPr>
          <a:xfrm flipH="false" flipV="false" rot="0">
            <a:off x="8899873" y="8432434"/>
            <a:ext cx="1065906" cy="666191"/>
          </a:xfrm>
          <a:custGeom>
            <a:avLst/>
            <a:gdLst/>
            <a:ahLst/>
            <a:cxnLst/>
            <a:rect r="r" b="b" t="t" l="l"/>
            <a:pathLst>
              <a:path h="666191" w="1065906">
                <a:moveTo>
                  <a:pt x="0" y="0"/>
                </a:moveTo>
                <a:lnTo>
                  <a:pt x="1065906" y="0"/>
                </a:lnTo>
                <a:lnTo>
                  <a:pt x="1065906" y="666191"/>
                </a:lnTo>
                <a:lnTo>
                  <a:pt x="0" y="666191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72" id="72"/>
          <p:cNvSpPr txBox="true"/>
          <p:nvPr/>
        </p:nvSpPr>
        <p:spPr>
          <a:xfrm rot="0">
            <a:off x="5608908" y="4793359"/>
            <a:ext cx="1008156" cy="2907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12"/>
              </a:lnSpc>
              <a:spcBef>
                <a:spcPct val="0"/>
              </a:spcBef>
            </a:pPr>
            <a:r>
              <a:rPr lang="en-US" sz="1723">
                <a:solidFill>
                  <a:srgbClr val="000000"/>
                </a:solidFill>
                <a:latin typeface="Touvlo"/>
                <a:ea typeface="Touvlo"/>
                <a:cs typeface="Touvlo"/>
                <a:sym typeface="Touvlo"/>
              </a:rPr>
              <a:t>Applicant</a:t>
            </a:r>
          </a:p>
        </p:txBody>
      </p:sp>
      <p:sp>
        <p:nvSpPr>
          <p:cNvPr name="TextBox 73" id="73"/>
          <p:cNvSpPr txBox="true"/>
          <p:nvPr/>
        </p:nvSpPr>
        <p:spPr>
          <a:xfrm rot="0">
            <a:off x="5747827" y="9346285"/>
            <a:ext cx="692893" cy="2945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48"/>
              </a:lnSpc>
              <a:spcBef>
                <a:spcPct val="0"/>
              </a:spcBef>
            </a:pPr>
            <a:r>
              <a:rPr lang="en-US" sz="1748">
                <a:solidFill>
                  <a:srgbClr val="000000"/>
                </a:solidFill>
                <a:latin typeface="Touvlo"/>
                <a:ea typeface="Touvlo"/>
                <a:cs typeface="Touvlo"/>
                <a:sym typeface="Touvlo"/>
              </a:rPr>
              <a:t>Donor</a:t>
            </a:r>
          </a:p>
        </p:txBody>
      </p:sp>
      <p:sp>
        <p:nvSpPr>
          <p:cNvPr name="TextBox 74" id="74"/>
          <p:cNvSpPr txBox="true"/>
          <p:nvPr/>
        </p:nvSpPr>
        <p:spPr>
          <a:xfrm rot="0">
            <a:off x="8894326" y="7169953"/>
            <a:ext cx="1007223" cy="2907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12"/>
              </a:lnSpc>
              <a:spcBef>
                <a:spcPct val="0"/>
              </a:spcBef>
            </a:pPr>
            <a:r>
              <a:rPr lang="en-US" sz="1723">
                <a:solidFill>
                  <a:srgbClr val="000000"/>
                </a:solidFill>
                <a:latin typeface="Touvlo"/>
                <a:ea typeface="Touvlo"/>
                <a:cs typeface="Touvlo"/>
                <a:sym typeface="Touvlo"/>
              </a:rPr>
              <a:t>Database</a:t>
            </a:r>
          </a:p>
        </p:txBody>
      </p:sp>
      <p:sp>
        <p:nvSpPr>
          <p:cNvPr name="TextBox 75" id="75"/>
          <p:cNvSpPr txBox="true"/>
          <p:nvPr/>
        </p:nvSpPr>
        <p:spPr>
          <a:xfrm rot="0">
            <a:off x="8899873" y="4769716"/>
            <a:ext cx="1033689" cy="2907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12"/>
              </a:lnSpc>
              <a:spcBef>
                <a:spcPct val="0"/>
              </a:spcBef>
            </a:pPr>
            <a:r>
              <a:rPr lang="en-US" sz="1723">
                <a:solidFill>
                  <a:srgbClr val="000000"/>
                </a:solidFill>
                <a:latin typeface="Touvlo"/>
                <a:ea typeface="Touvlo"/>
                <a:cs typeface="Touvlo"/>
                <a:sym typeface="Touvlo"/>
              </a:rPr>
              <a:t>Volunteer</a:t>
            </a:r>
          </a:p>
        </p:txBody>
      </p:sp>
      <p:sp>
        <p:nvSpPr>
          <p:cNvPr name="TextBox 76" id="76"/>
          <p:cNvSpPr txBox="true"/>
          <p:nvPr/>
        </p:nvSpPr>
        <p:spPr>
          <a:xfrm rot="0">
            <a:off x="5801137" y="7081510"/>
            <a:ext cx="688465" cy="2907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12"/>
              </a:lnSpc>
              <a:spcBef>
                <a:spcPct val="0"/>
              </a:spcBef>
            </a:pPr>
            <a:r>
              <a:rPr lang="en-US" sz="1723">
                <a:solidFill>
                  <a:srgbClr val="000000"/>
                </a:solidFill>
                <a:latin typeface="Touvlo"/>
                <a:ea typeface="Touvlo"/>
                <a:cs typeface="Touvlo"/>
                <a:sym typeface="Touvlo"/>
              </a:rPr>
              <a:t>Admin</a:t>
            </a:r>
          </a:p>
        </p:txBody>
      </p:sp>
      <p:sp>
        <p:nvSpPr>
          <p:cNvPr name="TextBox 77" id="77"/>
          <p:cNvSpPr txBox="true"/>
          <p:nvPr/>
        </p:nvSpPr>
        <p:spPr>
          <a:xfrm rot="0">
            <a:off x="8794908" y="9282333"/>
            <a:ext cx="1247049" cy="2907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12"/>
              </a:lnSpc>
              <a:spcBef>
                <a:spcPct val="0"/>
              </a:spcBef>
            </a:pPr>
            <a:r>
              <a:rPr lang="en-US" sz="1723">
                <a:solidFill>
                  <a:srgbClr val="000000"/>
                </a:solidFill>
                <a:latin typeface="Touvlo"/>
                <a:ea typeface="Touvlo"/>
                <a:cs typeface="Touvlo"/>
                <a:sym typeface="Touvlo"/>
              </a:rPr>
              <a:t>Web Server</a:t>
            </a:r>
          </a:p>
        </p:txBody>
      </p:sp>
      <p:sp>
        <p:nvSpPr>
          <p:cNvPr name="TextBox 78" id="78"/>
          <p:cNvSpPr txBox="true"/>
          <p:nvPr/>
        </p:nvSpPr>
        <p:spPr>
          <a:xfrm rot="0">
            <a:off x="11708210" y="9237478"/>
            <a:ext cx="1172431" cy="2907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12"/>
              </a:lnSpc>
              <a:spcBef>
                <a:spcPct val="0"/>
              </a:spcBef>
            </a:pPr>
            <a:r>
              <a:rPr lang="en-US" sz="1723">
                <a:solidFill>
                  <a:srgbClr val="000000"/>
                </a:solidFill>
                <a:latin typeface="Touvlo"/>
                <a:ea typeface="Touvlo"/>
                <a:cs typeface="Touvlo"/>
                <a:sym typeface="Touvlo"/>
              </a:rPr>
              <a:t>Web Portal</a:t>
            </a:r>
          </a:p>
        </p:txBody>
      </p:sp>
      <p:sp>
        <p:nvSpPr>
          <p:cNvPr name="TextBox 79" id="79"/>
          <p:cNvSpPr txBox="true"/>
          <p:nvPr/>
        </p:nvSpPr>
        <p:spPr>
          <a:xfrm rot="0">
            <a:off x="11670901" y="4793359"/>
            <a:ext cx="1247049" cy="2907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12"/>
              </a:lnSpc>
              <a:spcBef>
                <a:spcPct val="0"/>
              </a:spcBef>
            </a:pPr>
            <a:r>
              <a:rPr lang="en-US" sz="1723">
                <a:solidFill>
                  <a:srgbClr val="000000"/>
                </a:solidFill>
                <a:latin typeface="Touvlo"/>
                <a:ea typeface="Touvlo"/>
                <a:cs typeface="Touvlo"/>
                <a:sym typeface="Touvlo"/>
              </a:rPr>
              <a:t>Web Server</a:t>
            </a:r>
          </a:p>
        </p:txBody>
      </p:sp>
      <p:sp>
        <p:nvSpPr>
          <p:cNvPr name="Freeform 80" id="80"/>
          <p:cNvSpPr/>
          <p:nvPr/>
        </p:nvSpPr>
        <p:spPr>
          <a:xfrm flipH="false" flipV="false" rot="0">
            <a:off x="11761376" y="3964754"/>
            <a:ext cx="1065906" cy="666191"/>
          </a:xfrm>
          <a:custGeom>
            <a:avLst/>
            <a:gdLst/>
            <a:ahLst/>
            <a:cxnLst/>
            <a:rect r="r" b="b" t="t" l="l"/>
            <a:pathLst>
              <a:path h="666191" w="1065906">
                <a:moveTo>
                  <a:pt x="0" y="0"/>
                </a:moveTo>
                <a:lnTo>
                  <a:pt x="1065906" y="0"/>
                </a:lnTo>
                <a:lnTo>
                  <a:pt x="1065906" y="666191"/>
                </a:lnTo>
                <a:lnTo>
                  <a:pt x="0" y="666191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81" id="81"/>
          <p:cNvSpPr/>
          <p:nvPr/>
        </p:nvSpPr>
        <p:spPr>
          <a:xfrm flipV="true">
            <a:off x="10404723" y="5210903"/>
            <a:ext cx="1738184" cy="1311147"/>
          </a:xfrm>
          <a:prstGeom prst="line">
            <a:avLst/>
          </a:prstGeom>
          <a:ln cap="flat" w="28575">
            <a:solidFill>
              <a:srgbClr val="000000"/>
            </a:solidFill>
            <a:prstDash val="solid"/>
            <a:headEnd type="triangle" len="med" w="lg"/>
            <a:tailEnd type="arrow" len="sm" w="med"/>
          </a:ln>
        </p:spPr>
      </p:sp>
      <p:sp>
        <p:nvSpPr>
          <p:cNvPr name="AutoShape 82" id="82"/>
          <p:cNvSpPr/>
          <p:nvPr/>
        </p:nvSpPr>
        <p:spPr>
          <a:xfrm>
            <a:off x="10404723" y="6834591"/>
            <a:ext cx="1789003" cy="980169"/>
          </a:xfrm>
          <a:prstGeom prst="line">
            <a:avLst/>
          </a:prstGeom>
          <a:ln cap="flat" w="28575">
            <a:solidFill>
              <a:srgbClr val="000000"/>
            </a:solidFill>
            <a:prstDash val="solid"/>
            <a:headEnd type="triangle" len="med" w="lg"/>
            <a:tailEnd type="arrow" len="sm" w="med"/>
          </a:ln>
        </p:spPr>
      </p:sp>
    </p:spTree>
  </p:cSld>
  <p:clrMapOvr>
    <a:masterClrMapping/>
  </p:clrMapOvr>
  <p:transition spd="fast">
    <p:cover dir="d"/>
  </p:transition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480674" y="649286"/>
            <a:ext cx="851827" cy="949111"/>
          </a:xfrm>
          <a:custGeom>
            <a:avLst/>
            <a:gdLst/>
            <a:ahLst/>
            <a:cxnLst/>
            <a:rect r="r" b="b" t="t" l="l"/>
            <a:pathLst>
              <a:path h="949111" w="851827">
                <a:moveTo>
                  <a:pt x="0" y="0"/>
                </a:moveTo>
                <a:lnTo>
                  <a:pt x="851827" y="0"/>
                </a:lnTo>
                <a:lnTo>
                  <a:pt x="851827" y="949111"/>
                </a:lnTo>
                <a:lnTo>
                  <a:pt x="0" y="94911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aphicFrame>
        <p:nvGraphicFramePr>
          <p:cNvPr name="Table 3" id="3"/>
          <p:cNvGraphicFramePr>
            <a:graphicFrameLocks noGrp="true"/>
          </p:cNvGraphicFramePr>
          <p:nvPr/>
        </p:nvGraphicFramePr>
        <p:xfrm>
          <a:off x="1028700" y="2698275"/>
          <a:ext cx="7315200" cy="6638925"/>
        </p:xfrm>
        <a:graphic>
          <a:graphicData uri="http://schemas.openxmlformats.org/drawingml/2006/table">
            <a:tbl>
              <a:tblPr/>
              <a:tblGrid>
                <a:gridCol w="1437167"/>
                <a:gridCol w="5878033"/>
              </a:tblGrid>
              <a:tr h="737658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542" b="true">
                          <a:solidFill>
                            <a:srgbClr val="FFFFFF"/>
                          </a:solidFill>
                          <a:latin typeface="Touvlo Bold"/>
                          <a:ea typeface="Touvlo Bold"/>
                          <a:cs typeface="Touvlo Bold"/>
                          <a:sym typeface="Touvlo Bold"/>
                        </a:rPr>
                        <a:t>Use Case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88E3C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542" b="true">
                          <a:solidFill>
                            <a:srgbClr val="FFFFFF"/>
                          </a:solidFill>
                          <a:latin typeface="Touvlo Bold"/>
                          <a:ea typeface="Touvlo Bold"/>
                          <a:cs typeface="Touvlo Bold"/>
                          <a:sym typeface="Touvlo Bold"/>
                        </a:rPr>
                        <a:t>Title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88E3C"/>
                    </a:solidFill>
                  </a:tcPr>
                </a:tc>
              </a:tr>
              <a:tr h="737658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542">
                          <a:solidFill>
                            <a:srgbClr val="000000"/>
                          </a:solidFill>
                          <a:latin typeface="Touvlo"/>
                          <a:ea typeface="Touvlo"/>
                          <a:cs typeface="Touvlo"/>
                          <a:sym typeface="Touvlo"/>
                        </a:rPr>
                        <a:t>UC1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542">
                          <a:solidFill>
                            <a:srgbClr val="000000"/>
                          </a:solidFill>
                          <a:latin typeface="Touvlo"/>
                          <a:ea typeface="Touvlo"/>
                          <a:cs typeface="Touvlo"/>
                          <a:sym typeface="Touvlo"/>
                        </a:rPr>
                        <a:t>Applicant Registration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7658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542">
                          <a:solidFill>
                            <a:srgbClr val="000000"/>
                          </a:solidFill>
                          <a:latin typeface="Touvlo"/>
                          <a:ea typeface="Touvlo"/>
                          <a:cs typeface="Touvlo"/>
                          <a:sym typeface="Touvlo"/>
                        </a:rPr>
                        <a:t>UC2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542">
                          <a:solidFill>
                            <a:srgbClr val="000000"/>
                          </a:solidFill>
                          <a:latin typeface="Touvlo"/>
                          <a:ea typeface="Touvlo"/>
                          <a:cs typeface="Touvlo"/>
                          <a:sym typeface="Touvlo"/>
                        </a:rPr>
                        <a:t>Volunteer Login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7658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542">
                          <a:solidFill>
                            <a:srgbClr val="000000"/>
                          </a:solidFill>
                          <a:latin typeface="Touvlo"/>
                          <a:ea typeface="Touvlo"/>
                          <a:cs typeface="Touvlo"/>
                          <a:sym typeface="Touvlo"/>
                        </a:rPr>
                        <a:t>UC3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542">
                          <a:solidFill>
                            <a:srgbClr val="000000"/>
                          </a:solidFill>
                          <a:latin typeface="Touvlo"/>
                          <a:ea typeface="Touvlo"/>
                          <a:cs typeface="Touvlo"/>
                          <a:sym typeface="Touvlo"/>
                        </a:rPr>
                        <a:t>Applicant Verification and Approval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7658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542">
                          <a:solidFill>
                            <a:srgbClr val="000000"/>
                          </a:solidFill>
                          <a:latin typeface="Touvlo"/>
                          <a:ea typeface="Touvlo"/>
                          <a:cs typeface="Touvlo"/>
                          <a:sym typeface="Touvlo"/>
                        </a:rPr>
                        <a:t>UC4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542">
                          <a:solidFill>
                            <a:srgbClr val="000000"/>
                          </a:solidFill>
                          <a:latin typeface="Touvlo"/>
                          <a:ea typeface="Touvlo"/>
                          <a:cs typeface="Touvlo"/>
                          <a:sym typeface="Touvlo"/>
                        </a:rPr>
                        <a:t>Donor Registration and Login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7658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542">
                          <a:solidFill>
                            <a:srgbClr val="000000"/>
                          </a:solidFill>
                          <a:latin typeface="Touvlo"/>
                          <a:ea typeface="Touvlo"/>
                          <a:cs typeface="Touvlo"/>
                          <a:sym typeface="Touvlo"/>
                        </a:rPr>
                        <a:t>UC5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542">
                          <a:solidFill>
                            <a:srgbClr val="000000"/>
                          </a:solidFill>
                          <a:latin typeface="Touvlo"/>
                          <a:ea typeface="Touvlo"/>
                          <a:cs typeface="Touvlo"/>
                          <a:sym typeface="Touvlo"/>
                        </a:rPr>
                        <a:t>View and Fund Verified Applicants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7658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542">
                          <a:solidFill>
                            <a:srgbClr val="000000"/>
                          </a:solidFill>
                          <a:latin typeface="Touvlo"/>
                          <a:ea typeface="Touvlo"/>
                          <a:cs typeface="Touvlo"/>
                          <a:sym typeface="Touvlo"/>
                        </a:rPr>
                        <a:t>UC6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542">
                          <a:solidFill>
                            <a:srgbClr val="000000"/>
                          </a:solidFill>
                          <a:latin typeface="Touvlo"/>
                          <a:ea typeface="Touvlo"/>
                          <a:cs typeface="Touvlo"/>
                          <a:sym typeface="Touvlo"/>
                        </a:rPr>
                        <a:t>Donation Request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7658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542">
                          <a:solidFill>
                            <a:srgbClr val="000000"/>
                          </a:solidFill>
                          <a:latin typeface="Touvlo"/>
                          <a:ea typeface="Touvlo"/>
                          <a:cs typeface="Touvlo"/>
                          <a:sym typeface="Touvlo"/>
                        </a:rPr>
                        <a:t>UC7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542">
                          <a:solidFill>
                            <a:srgbClr val="000000"/>
                          </a:solidFill>
                          <a:latin typeface="Touvlo"/>
                          <a:ea typeface="Touvlo"/>
                          <a:cs typeface="Touvlo"/>
                          <a:sym typeface="Touvlo"/>
                        </a:rPr>
                        <a:t>Send Funding Notification 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7658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542">
                          <a:solidFill>
                            <a:srgbClr val="000000"/>
                          </a:solidFill>
                          <a:latin typeface="Touvlo"/>
                          <a:ea typeface="Touvlo"/>
                          <a:cs typeface="Touvlo"/>
                          <a:sym typeface="Touvlo"/>
                        </a:rPr>
                        <a:t>UC8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542">
                          <a:solidFill>
                            <a:srgbClr val="000000"/>
                          </a:solidFill>
                          <a:latin typeface="Touvlo"/>
                          <a:ea typeface="Touvlo"/>
                          <a:cs typeface="Touvlo"/>
                          <a:sym typeface="Touvlo"/>
                        </a:rPr>
                        <a:t>Generate Report and Progress Data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name="TextBox 4" id="4"/>
          <p:cNvSpPr txBox="true"/>
          <p:nvPr/>
        </p:nvSpPr>
        <p:spPr>
          <a:xfrm rot="0">
            <a:off x="1028700" y="1665353"/>
            <a:ext cx="1755775" cy="3026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15"/>
              </a:lnSpc>
              <a:spcBef>
                <a:spcPct val="0"/>
              </a:spcBef>
            </a:pPr>
            <a:r>
              <a:rPr lang="en-US" b="true" sz="1796">
                <a:solidFill>
                  <a:srgbClr val="388E3C"/>
                </a:solidFill>
                <a:latin typeface="Gotham Bold"/>
                <a:ea typeface="Gotham Bold"/>
                <a:cs typeface="Gotham Bold"/>
                <a:sym typeface="Gotham Bold"/>
              </a:rPr>
              <a:t>Haat Baran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6960980" y="420686"/>
            <a:ext cx="4499989" cy="9874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6999"/>
              </a:lnSpc>
              <a:spcBef>
                <a:spcPct val="0"/>
              </a:spcBef>
            </a:pPr>
            <a:r>
              <a:rPr lang="en-US" b="true" sz="4999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System Model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28700" y="1952371"/>
            <a:ext cx="7315200" cy="7043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655"/>
              </a:lnSpc>
              <a:spcBef>
                <a:spcPct val="0"/>
              </a:spcBef>
            </a:pPr>
            <a:r>
              <a:rPr lang="en-US" sz="1896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Us</a:t>
            </a:r>
            <a:r>
              <a:rPr lang="en-US" sz="1896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e cases describe the interaction between the user and the system to achieve specific goals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12293343" y="2347386"/>
            <a:ext cx="3153838" cy="7640193"/>
            <a:chOff x="0" y="0"/>
            <a:chExt cx="959724" cy="2324939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959724" cy="2324939"/>
            </a:xfrm>
            <a:custGeom>
              <a:avLst/>
              <a:gdLst/>
              <a:ahLst/>
              <a:cxnLst/>
              <a:rect r="r" b="b" t="t" l="l"/>
              <a:pathLst>
                <a:path h="2324939" w="959724">
                  <a:moveTo>
                    <a:pt x="56460" y="0"/>
                  </a:moveTo>
                  <a:lnTo>
                    <a:pt x="903265" y="0"/>
                  </a:lnTo>
                  <a:cubicBezTo>
                    <a:pt x="918239" y="0"/>
                    <a:pt x="932600" y="5948"/>
                    <a:pt x="943188" y="16537"/>
                  </a:cubicBezTo>
                  <a:cubicBezTo>
                    <a:pt x="953776" y="27125"/>
                    <a:pt x="959724" y="41486"/>
                    <a:pt x="959724" y="56460"/>
                  </a:cubicBezTo>
                  <a:lnTo>
                    <a:pt x="959724" y="2268479"/>
                  </a:lnTo>
                  <a:cubicBezTo>
                    <a:pt x="959724" y="2283453"/>
                    <a:pt x="953776" y="2297814"/>
                    <a:pt x="943188" y="2308402"/>
                  </a:cubicBezTo>
                  <a:cubicBezTo>
                    <a:pt x="932600" y="2318990"/>
                    <a:pt x="918239" y="2324939"/>
                    <a:pt x="903265" y="2324939"/>
                  </a:cubicBezTo>
                  <a:lnTo>
                    <a:pt x="56460" y="2324939"/>
                  </a:lnTo>
                  <a:cubicBezTo>
                    <a:pt x="41486" y="2324939"/>
                    <a:pt x="27125" y="2318990"/>
                    <a:pt x="16537" y="2308402"/>
                  </a:cubicBezTo>
                  <a:cubicBezTo>
                    <a:pt x="5948" y="2297814"/>
                    <a:pt x="0" y="2283453"/>
                    <a:pt x="0" y="2268479"/>
                  </a:cubicBezTo>
                  <a:lnTo>
                    <a:pt x="0" y="56460"/>
                  </a:lnTo>
                  <a:cubicBezTo>
                    <a:pt x="0" y="41486"/>
                    <a:pt x="5948" y="27125"/>
                    <a:pt x="16537" y="16537"/>
                  </a:cubicBezTo>
                  <a:cubicBezTo>
                    <a:pt x="27125" y="5948"/>
                    <a:pt x="41486" y="0"/>
                    <a:pt x="56460" y="0"/>
                  </a:cubicBezTo>
                  <a:close/>
                </a:path>
              </a:pathLst>
            </a:custGeom>
            <a:solidFill>
              <a:srgbClr val="D4CBCD"/>
            </a:solidFill>
            <a:ln cap="rnd">
              <a:noFill/>
              <a:prstDash val="solid"/>
              <a:round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-28575"/>
              <a:ext cx="959724" cy="235351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60"/>
                </a:lnSpc>
              </a:pPr>
            </a:p>
          </p:txBody>
        </p:sp>
      </p:grpSp>
      <p:sp>
        <p:nvSpPr>
          <p:cNvPr name="Freeform 10" id="10"/>
          <p:cNvSpPr/>
          <p:nvPr/>
        </p:nvSpPr>
        <p:spPr>
          <a:xfrm flipH="false" flipV="false" rot="0">
            <a:off x="10744938" y="2700212"/>
            <a:ext cx="872061" cy="953072"/>
          </a:xfrm>
          <a:custGeom>
            <a:avLst/>
            <a:gdLst/>
            <a:ahLst/>
            <a:cxnLst/>
            <a:rect r="r" b="b" t="t" l="l"/>
            <a:pathLst>
              <a:path h="953072" w="872061">
                <a:moveTo>
                  <a:pt x="0" y="0"/>
                </a:moveTo>
                <a:lnTo>
                  <a:pt x="872060" y="0"/>
                </a:lnTo>
                <a:lnTo>
                  <a:pt x="872060" y="953071"/>
                </a:lnTo>
                <a:lnTo>
                  <a:pt x="0" y="95307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10744938" y="6776046"/>
            <a:ext cx="872061" cy="953072"/>
          </a:xfrm>
          <a:custGeom>
            <a:avLst/>
            <a:gdLst/>
            <a:ahLst/>
            <a:cxnLst/>
            <a:rect r="r" b="b" t="t" l="l"/>
            <a:pathLst>
              <a:path h="953072" w="872061">
                <a:moveTo>
                  <a:pt x="0" y="0"/>
                </a:moveTo>
                <a:lnTo>
                  <a:pt x="872060" y="0"/>
                </a:lnTo>
                <a:lnTo>
                  <a:pt x="872060" y="953071"/>
                </a:lnTo>
                <a:lnTo>
                  <a:pt x="0" y="95307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16230194" y="2626368"/>
            <a:ext cx="872061" cy="953072"/>
          </a:xfrm>
          <a:custGeom>
            <a:avLst/>
            <a:gdLst/>
            <a:ahLst/>
            <a:cxnLst/>
            <a:rect r="r" b="b" t="t" l="l"/>
            <a:pathLst>
              <a:path h="953072" w="872061">
                <a:moveTo>
                  <a:pt x="0" y="0"/>
                </a:moveTo>
                <a:lnTo>
                  <a:pt x="872060" y="0"/>
                </a:lnTo>
                <a:lnTo>
                  <a:pt x="872060" y="953072"/>
                </a:lnTo>
                <a:lnTo>
                  <a:pt x="0" y="95307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3" id="13"/>
          <p:cNvGrpSpPr/>
          <p:nvPr/>
        </p:nvGrpSpPr>
        <p:grpSpPr>
          <a:xfrm rot="0">
            <a:off x="12534754" y="2700212"/>
            <a:ext cx="2671016" cy="773783"/>
            <a:chOff x="0" y="0"/>
            <a:chExt cx="812800" cy="235465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812800" cy="235465"/>
            </a:xfrm>
            <a:custGeom>
              <a:avLst/>
              <a:gdLst/>
              <a:ahLst/>
              <a:cxnLst/>
              <a:rect r="r" b="b" t="t" l="l"/>
              <a:pathLst>
                <a:path h="235465" w="812800">
                  <a:moveTo>
                    <a:pt x="37680" y="0"/>
                  </a:moveTo>
                  <a:lnTo>
                    <a:pt x="775120" y="0"/>
                  </a:lnTo>
                  <a:cubicBezTo>
                    <a:pt x="785113" y="0"/>
                    <a:pt x="794697" y="3970"/>
                    <a:pt x="801764" y="11036"/>
                  </a:cubicBezTo>
                  <a:cubicBezTo>
                    <a:pt x="808830" y="18103"/>
                    <a:pt x="812800" y="27687"/>
                    <a:pt x="812800" y="37680"/>
                  </a:cubicBezTo>
                  <a:lnTo>
                    <a:pt x="812800" y="197785"/>
                  </a:lnTo>
                  <a:cubicBezTo>
                    <a:pt x="812800" y="218595"/>
                    <a:pt x="795930" y="235465"/>
                    <a:pt x="775120" y="235465"/>
                  </a:cubicBezTo>
                  <a:lnTo>
                    <a:pt x="37680" y="235465"/>
                  </a:lnTo>
                  <a:cubicBezTo>
                    <a:pt x="27687" y="235465"/>
                    <a:pt x="18103" y="231495"/>
                    <a:pt x="11036" y="224429"/>
                  </a:cubicBezTo>
                  <a:cubicBezTo>
                    <a:pt x="3970" y="217362"/>
                    <a:pt x="0" y="207778"/>
                    <a:pt x="0" y="197785"/>
                  </a:cubicBezTo>
                  <a:lnTo>
                    <a:pt x="0" y="37680"/>
                  </a:lnTo>
                  <a:cubicBezTo>
                    <a:pt x="0" y="27687"/>
                    <a:pt x="3970" y="18103"/>
                    <a:pt x="11036" y="11036"/>
                  </a:cubicBezTo>
                  <a:cubicBezTo>
                    <a:pt x="18103" y="3970"/>
                    <a:pt x="27687" y="0"/>
                    <a:pt x="37680" y="0"/>
                  </a:cubicBezTo>
                  <a:close/>
                </a:path>
              </a:pathLst>
            </a:custGeom>
            <a:solidFill>
              <a:srgbClr val="E2A9F1"/>
            </a:solidFill>
            <a:ln cap="sq">
              <a:noFill/>
              <a:prstDash val="solid"/>
              <a:miter/>
            </a:ln>
          </p:spPr>
        </p:sp>
        <p:sp>
          <p:nvSpPr>
            <p:cNvPr name="TextBox 15" id="15"/>
            <p:cNvSpPr txBox="true"/>
            <p:nvPr/>
          </p:nvSpPr>
          <p:spPr>
            <a:xfrm>
              <a:off x="0" y="-28575"/>
              <a:ext cx="812800" cy="26404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60"/>
                </a:lnSpc>
              </a:pPr>
            </a:p>
          </p:txBody>
        </p:sp>
      </p:grpSp>
      <p:sp>
        <p:nvSpPr>
          <p:cNvPr name="TextBox 16" id="16"/>
          <p:cNvSpPr txBox="true"/>
          <p:nvPr/>
        </p:nvSpPr>
        <p:spPr>
          <a:xfrm rot="0">
            <a:off x="12901608" y="2968884"/>
            <a:ext cx="1937308" cy="2394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78"/>
              </a:lnSpc>
              <a:spcBef>
                <a:spcPct val="0"/>
              </a:spcBef>
            </a:pPr>
            <a:r>
              <a:rPr lang="en-US" sz="1413">
                <a:solidFill>
                  <a:srgbClr val="FFFFFF"/>
                </a:solidFill>
                <a:latin typeface="Touvlo"/>
                <a:ea typeface="Touvlo"/>
                <a:cs typeface="Touvlo"/>
                <a:sym typeface="Touvlo"/>
              </a:rPr>
              <a:t>Applicant Registration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0704134" y="3624708"/>
            <a:ext cx="953668" cy="2394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78"/>
              </a:lnSpc>
              <a:spcBef>
                <a:spcPct val="0"/>
              </a:spcBef>
            </a:pPr>
            <a:r>
              <a:rPr lang="en-US" sz="1413">
                <a:solidFill>
                  <a:srgbClr val="000000"/>
                </a:solidFill>
                <a:latin typeface="Touvlo"/>
                <a:ea typeface="Touvlo"/>
                <a:cs typeface="Touvlo"/>
                <a:sym typeface="Touvlo"/>
              </a:rPr>
              <a:t>Voluenteer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12534754" y="3758728"/>
            <a:ext cx="2671016" cy="773783"/>
            <a:chOff x="0" y="0"/>
            <a:chExt cx="812800" cy="235465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812800" cy="235465"/>
            </a:xfrm>
            <a:custGeom>
              <a:avLst/>
              <a:gdLst/>
              <a:ahLst/>
              <a:cxnLst/>
              <a:rect r="r" b="b" t="t" l="l"/>
              <a:pathLst>
                <a:path h="235465" w="812800">
                  <a:moveTo>
                    <a:pt x="37680" y="0"/>
                  </a:moveTo>
                  <a:lnTo>
                    <a:pt x="775120" y="0"/>
                  </a:lnTo>
                  <a:cubicBezTo>
                    <a:pt x="785113" y="0"/>
                    <a:pt x="794697" y="3970"/>
                    <a:pt x="801764" y="11036"/>
                  </a:cubicBezTo>
                  <a:cubicBezTo>
                    <a:pt x="808830" y="18103"/>
                    <a:pt x="812800" y="27687"/>
                    <a:pt x="812800" y="37680"/>
                  </a:cubicBezTo>
                  <a:lnTo>
                    <a:pt x="812800" y="197785"/>
                  </a:lnTo>
                  <a:cubicBezTo>
                    <a:pt x="812800" y="218595"/>
                    <a:pt x="795930" y="235465"/>
                    <a:pt x="775120" y="235465"/>
                  </a:cubicBezTo>
                  <a:lnTo>
                    <a:pt x="37680" y="235465"/>
                  </a:lnTo>
                  <a:cubicBezTo>
                    <a:pt x="27687" y="235465"/>
                    <a:pt x="18103" y="231495"/>
                    <a:pt x="11036" y="224429"/>
                  </a:cubicBezTo>
                  <a:cubicBezTo>
                    <a:pt x="3970" y="217362"/>
                    <a:pt x="0" y="207778"/>
                    <a:pt x="0" y="197785"/>
                  </a:cubicBezTo>
                  <a:lnTo>
                    <a:pt x="0" y="37680"/>
                  </a:lnTo>
                  <a:cubicBezTo>
                    <a:pt x="0" y="27687"/>
                    <a:pt x="3970" y="18103"/>
                    <a:pt x="11036" y="11036"/>
                  </a:cubicBezTo>
                  <a:cubicBezTo>
                    <a:pt x="18103" y="3970"/>
                    <a:pt x="27687" y="0"/>
                    <a:pt x="37680" y="0"/>
                  </a:cubicBezTo>
                  <a:close/>
                </a:path>
              </a:pathLst>
            </a:custGeom>
            <a:solidFill>
              <a:srgbClr val="A4B9FB"/>
            </a:solidFill>
            <a:ln cap="sq">
              <a:noFill/>
              <a:prstDash val="solid"/>
              <a:miter/>
            </a:ln>
          </p:spPr>
        </p:sp>
        <p:sp>
          <p:nvSpPr>
            <p:cNvPr name="TextBox 20" id="20"/>
            <p:cNvSpPr txBox="true"/>
            <p:nvPr/>
          </p:nvSpPr>
          <p:spPr>
            <a:xfrm>
              <a:off x="0" y="-28575"/>
              <a:ext cx="812800" cy="26404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60"/>
                </a:lnSpc>
              </a:pPr>
            </a:p>
          </p:txBody>
        </p:sp>
      </p:grpSp>
      <p:sp>
        <p:nvSpPr>
          <p:cNvPr name="TextBox 21" id="21"/>
          <p:cNvSpPr txBox="true"/>
          <p:nvPr/>
        </p:nvSpPr>
        <p:spPr>
          <a:xfrm rot="0">
            <a:off x="13176526" y="4011600"/>
            <a:ext cx="1387472" cy="2394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78"/>
              </a:lnSpc>
              <a:spcBef>
                <a:spcPct val="0"/>
              </a:spcBef>
            </a:pPr>
            <a:r>
              <a:rPr lang="en-US" sz="1413">
                <a:solidFill>
                  <a:srgbClr val="FFFFFF"/>
                </a:solidFill>
                <a:latin typeface="Touvlo"/>
                <a:ea typeface="Touvlo"/>
                <a:cs typeface="Touvlo"/>
                <a:sym typeface="Touvlo"/>
              </a:rPr>
              <a:t>Volunteer Login</a:t>
            </a:r>
          </a:p>
        </p:txBody>
      </p:sp>
      <p:sp>
        <p:nvSpPr>
          <p:cNvPr name="AutoShape 22" id="22"/>
          <p:cNvSpPr/>
          <p:nvPr/>
        </p:nvSpPr>
        <p:spPr>
          <a:xfrm flipV="true">
            <a:off x="11616998" y="3087103"/>
            <a:ext cx="917756" cy="243859"/>
          </a:xfrm>
          <a:prstGeom prst="line">
            <a:avLst/>
          </a:prstGeom>
          <a:ln cap="flat" w="28575">
            <a:solidFill>
              <a:srgbClr val="000000"/>
            </a:solidFill>
            <a:prstDash val="solid"/>
            <a:headEnd type="oval" len="lg" w="lg"/>
            <a:tailEnd type="arrow" len="sm" w="med"/>
          </a:ln>
        </p:spPr>
      </p:sp>
      <p:sp>
        <p:nvSpPr>
          <p:cNvPr name="AutoShape 23" id="23"/>
          <p:cNvSpPr/>
          <p:nvPr/>
        </p:nvSpPr>
        <p:spPr>
          <a:xfrm>
            <a:off x="11616998" y="3533411"/>
            <a:ext cx="917756" cy="612209"/>
          </a:xfrm>
          <a:prstGeom prst="line">
            <a:avLst/>
          </a:prstGeom>
          <a:ln cap="flat" w="28575">
            <a:solidFill>
              <a:srgbClr val="000000"/>
            </a:solidFill>
            <a:prstDash val="solid"/>
            <a:headEnd type="oval" len="lg" w="lg"/>
            <a:tailEnd type="arrow" len="sm" w="med"/>
          </a:ln>
        </p:spPr>
      </p:sp>
      <p:grpSp>
        <p:nvGrpSpPr>
          <p:cNvPr name="Group 24" id="24"/>
          <p:cNvGrpSpPr/>
          <p:nvPr/>
        </p:nvGrpSpPr>
        <p:grpSpPr>
          <a:xfrm rot="0">
            <a:off x="12534754" y="4812950"/>
            <a:ext cx="2671016" cy="773783"/>
            <a:chOff x="0" y="0"/>
            <a:chExt cx="812800" cy="235465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812800" cy="235465"/>
            </a:xfrm>
            <a:custGeom>
              <a:avLst/>
              <a:gdLst/>
              <a:ahLst/>
              <a:cxnLst/>
              <a:rect r="r" b="b" t="t" l="l"/>
              <a:pathLst>
                <a:path h="235465" w="812800">
                  <a:moveTo>
                    <a:pt x="37680" y="0"/>
                  </a:moveTo>
                  <a:lnTo>
                    <a:pt x="775120" y="0"/>
                  </a:lnTo>
                  <a:cubicBezTo>
                    <a:pt x="785113" y="0"/>
                    <a:pt x="794697" y="3970"/>
                    <a:pt x="801764" y="11036"/>
                  </a:cubicBezTo>
                  <a:cubicBezTo>
                    <a:pt x="808830" y="18103"/>
                    <a:pt x="812800" y="27687"/>
                    <a:pt x="812800" y="37680"/>
                  </a:cubicBezTo>
                  <a:lnTo>
                    <a:pt x="812800" y="197785"/>
                  </a:lnTo>
                  <a:cubicBezTo>
                    <a:pt x="812800" y="218595"/>
                    <a:pt x="795930" y="235465"/>
                    <a:pt x="775120" y="235465"/>
                  </a:cubicBezTo>
                  <a:lnTo>
                    <a:pt x="37680" y="235465"/>
                  </a:lnTo>
                  <a:cubicBezTo>
                    <a:pt x="27687" y="235465"/>
                    <a:pt x="18103" y="231495"/>
                    <a:pt x="11036" y="224429"/>
                  </a:cubicBezTo>
                  <a:cubicBezTo>
                    <a:pt x="3970" y="217362"/>
                    <a:pt x="0" y="207778"/>
                    <a:pt x="0" y="197785"/>
                  </a:cubicBezTo>
                  <a:lnTo>
                    <a:pt x="0" y="37680"/>
                  </a:lnTo>
                  <a:cubicBezTo>
                    <a:pt x="0" y="27687"/>
                    <a:pt x="3970" y="18103"/>
                    <a:pt x="11036" y="11036"/>
                  </a:cubicBezTo>
                  <a:cubicBezTo>
                    <a:pt x="18103" y="3970"/>
                    <a:pt x="27687" y="0"/>
                    <a:pt x="37680" y="0"/>
                  </a:cubicBezTo>
                  <a:close/>
                </a:path>
              </a:pathLst>
            </a:custGeom>
            <a:solidFill>
              <a:srgbClr val="F97E81"/>
            </a:solidFill>
            <a:ln cap="sq">
              <a:noFill/>
              <a:prstDash val="solid"/>
              <a:miter/>
            </a:ln>
          </p:spPr>
        </p:sp>
        <p:sp>
          <p:nvSpPr>
            <p:cNvPr name="TextBox 26" id="26"/>
            <p:cNvSpPr txBox="true"/>
            <p:nvPr/>
          </p:nvSpPr>
          <p:spPr>
            <a:xfrm>
              <a:off x="0" y="-28575"/>
              <a:ext cx="812800" cy="26404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60"/>
                </a:lnSpc>
              </a:pPr>
            </a:p>
          </p:txBody>
        </p:sp>
      </p:grpSp>
      <p:sp>
        <p:nvSpPr>
          <p:cNvPr name="TextBox 27" id="27"/>
          <p:cNvSpPr txBox="true"/>
          <p:nvPr/>
        </p:nvSpPr>
        <p:spPr>
          <a:xfrm rot="0">
            <a:off x="12908882" y="5065822"/>
            <a:ext cx="1922760" cy="2394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78"/>
              </a:lnSpc>
              <a:spcBef>
                <a:spcPct val="0"/>
              </a:spcBef>
            </a:pPr>
            <a:r>
              <a:rPr lang="en-US" sz="1413">
                <a:solidFill>
                  <a:srgbClr val="FFFFFF"/>
                </a:solidFill>
                <a:latin typeface="Touvlo"/>
                <a:ea typeface="Touvlo"/>
                <a:cs typeface="Touvlo"/>
                <a:sym typeface="Touvlo"/>
              </a:rPr>
              <a:t>Applicant Veriification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6343141" y="3730153"/>
            <a:ext cx="564559" cy="2394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78"/>
              </a:lnSpc>
              <a:spcBef>
                <a:spcPct val="0"/>
              </a:spcBef>
            </a:pPr>
            <a:r>
              <a:rPr lang="en-US" sz="1413">
                <a:solidFill>
                  <a:srgbClr val="000000"/>
                </a:solidFill>
                <a:latin typeface="Touvlo"/>
                <a:ea typeface="Touvlo"/>
                <a:cs typeface="Touvlo"/>
                <a:sym typeface="Touvlo"/>
              </a:rPr>
              <a:t>Admin</a:t>
            </a:r>
          </a:p>
        </p:txBody>
      </p:sp>
      <p:sp>
        <p:nvSpPr>
          <p:cNvPr name="AutoShape 29" id="29"/>
          <p:cNvSpPr/>
          <p:nvPr/>
        </p:nvSpPr>
        <p:spPr>
          <a:xfrm flipH="true">
            <a:off x="15205770" y="3208349"/>
            <a:ext cx="1137371" cy="1991493"/>
          </a:xfrm>
          <a:prstGeom prst="line">
            <a:avLst/>
          </a:prstGeom>
          <a:ln cap="flat" w="28575">
            <a:solidFill>
              <a:srgbClr val="000000"/>
            </a:solidFill>
            <a:prstDash val="solid"/>
            <a:headEnd type="oval" len="lg" w="lg"/>
            <a:tailEnd type="arrow" len="sm" w="med"/>
          </a:ln>
        </p:spPr>
      </p:sp>
      <p:grpSp>
        <p:nvGrpSpPr>
          <p:cNvPr name="Group 30" id="30"/>
          <p:cNvGrpSpPr/>
          <p:nvPr/>
        </p:nvGrpSpPr>
        <p:grpSpPr>
          <a:xfrm rot="0">
            <a:off x="12547724" y="6909170"/>
            <a:ext cx="2671016" cy="773783"/>
            <a:chOff x="0" y="0"/>
            <a:chExt cx="812800" cy="235465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812800" cy="235465"/>
            </a:xfrm>
            <a:custGeom>
              <a:avLst/>
              <a:gdLst/>
              <a:ahLst/>
              <a:cxnLst/>
              <a:rect r="r" b="b" t="t" l="l"/>
              <a:pathLst>
                <a:path h="235465" w="812800">
                  <a:moveTo>
                    <a:pt x="37680" y="0"/>
                  </a:moveTo>
                  <a:lnTo>
                    <a:pt x="775120" y="0"/>
                  </a:lnTo>
                  <a:cubicBezTo>
                    <a:pt x="785113" y="0"/>
                    <a:pt x="794697" y="3970"/>
                    <a:pt x="801764" y="11036"/>
                  </a:cubicBezTo>
                  <a:cubicBezTo>
                    <a:pt x="808830" y="18103"/>
                    <a:pt x="812800" y="27687"/>
                    <a:pt x="812800" y="37680"/>
                  </a:cubicBezTo>
                  <a:lnTo>
                    <a:pt x="812800" y="197785"/>
                  </a:lnTo>
                  <a:cubicBezTo>
                    <a:pt x="812800" y="218595"/>
                    <a:pt x="795930" y="235465"/>
                    <a:pt x="775120" y="235465"/>
                  </a:cubicBezTo>
                  <a:lnTo>
                    <a:pt x="37680" y="235465"/>
                  </a:lnTo>
                  <a:cubicBezTo>
                    <a:pt x="27687" y="235465"/>
                    <a:pt x="18103" y="231495"/>
                    <a:pt x="11036" y="224429"/>
                  </a:cubicBezTo>
                  <a:cubicBezTo>
                    <a:pt x="3970" y="217362"/>
                    <a:pt x="0" y="207778"/>
                    <a:pt x="0" y="197785"/>
                  </a:cubicBezTo>
                  <a:lnTo>
                    <a:pt x="0" y="37680"/>
                  </a:lnTo>
                  <a:cubicBezTo>
                    <a:pt x="0" y="27687"/>
                    <a:pt x="3970" y="18103"/>
                    <a:pt x="11036" y="11036"/>
                  </a:cubicBezTo>
                  <a:cubicBezTo>
                    <a:pt x="18103" y="3970"/>
                    <a:pt x="27687" y="0"/>
                    <a:pt x="37680" y="0"/>
                  </a:cubicBezTo>
                  <a:close/>
                </a:path>
              </a:pathLst>
            </a:custGeom>
            <a:solidFill>
              <a:srgbClr val="7ED957"/>
            </a:solidFill>
            <a:ln cap="sq">
              <a:noFill/>
              <a:prstDash val="solid"/>
              <a:miter/>
            </a:ln>
          </p:spPr>
        </p:sp>
        <p:sp>
          <p:nvSpPr>
            <p:cNvPr name="TextBox 32" id="32"/>
            <p:cNvSpPr txBox="true"/>
            <p:nvPr/>
          </p:nvSpPr>
          <p:spPr>
            <a:xfrm>
              <a:off x="0" y="-28575"/>
              <a:ext cx="812800" cy="26404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60"/>
                </a:lnSpc>
              </a:pPr>
            </a:p>
          </p:txBody>
        </p:sp>
      </p:grpSp>
      <p:sp>
        <p:nvSpPr>
          <p:cNvPr name="TextBox 33" id="33"/>
          <p:cNvSpPr txBox="true"/>
          <p:nvPr/>
        </p:nvSpPr>
        <p:spPr>
          <a:xfrm rot="0">
            <a:off x="13163556" y="7178561"/>
            <a:ext cx="1413413" cy="2394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78"/>
              </a:lnSpc>
              <a:spcBef>
                <a:spcPct val="0"/>
              </a:spcBef>
            </a:pPr>
            <a:r>
              <a:rPr lang="en-US" sz="1413">
                <a:solidFill>
                  <a:srgbClr val="FFFFFF"/>
                </a:solidFill>
                <a:latin typeface="Touvlo"/>
                <a:ea typeface="Touvlo"/>
                <a:cs typeface="Touvlo"/>
                <a:sym typeface="Touvlo"/>
              </a:rPr>
              <a:t>Select Applicant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10900967" y="7785892"/>
            <a:ext cx="560002" cy="2394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78"/>
              </a:lnSpc>
              <a:spcBef>
                <a:spcPct val="0"/>
              </a:spcBef>
            </a:pPr>
            <a:r>
              <a:rPr lang="en-US" sz="1413">
                <a:solidFill>
                  <a:srgbClr val="000000"/>
                </a:solidFill>
                <a:latin typeface="Touvlo"/>
                <a:ea typeface="Touvlo"/>
                <a:cs typeface="Touvlo"/>
                <a:sym typeface="Touvlo"/>
              </a:rPr>
              <a:t>Donor</a:t>
            </a:r>
          </a:p>
        </p:txBody>
      </p:sp>
      <p:sp>
        <p:nvSpPr>
          <p:cNvPr name="AutoShape 35" id="35"/>
          <p:cNvSpPr/>
          <p:nvPr/>
        </p:nvSpPr>
        <p:spPr>
          <a:xfrm flipV="true">
            <a:off x="11639965" y="7296061"/>
            <a:ext cx="907759" cy="2455"/>
          </a:xfrm>
          <a:prstGeom prst="line">
            <a:avLst/>
          </a:prstGeom>
          <a:ln cap="flat" w="28575">
            <a:solidFill>
              <a:srgbClr val="000000"/>
            </a:solidFill>
            <a:prstDash val="solid"/>
            <a:headEnd type="oval" len="lg" w="lg"/>
            <a:tailEnd type="arrow" len="sm" w="med"/>
          </a:ln>
        </p:spPr>
      </p:sp>
      <p:sp>
        <p:nvSpPr>
          <p:cNvPr name="Freeform 36" id="36"/>
          <p:cNvSpPr/>
          <p:nvPr/>
        </p:nvSpPr>
        <p:spPr>
          <a:xfrm flipH="false" flipV="false" rot="0">
            <a:off x="16387239" y="6830647"/>
            <a:ext cx="872061" cy="953072"/>
          </a:xfrm>
          <a:custGeom>
            <a:avLst/>
            <a:gdLst/>
            <a:ahLst/>
            <a:cxnLst/>
            <a:rect r="r" b="b" t="t" l="l"/>
            <a:pathLst>
              <a:path h="953072" w="872061">
                <a:moveTo>
                  <a:pt x="0" y="0"/>
                </a:moveTo>
                <a:lnTo>
                  <a:pt x="872061" y="0"/>
                </a:lnTo>
                <a:lnTo>
                  <a:pt x="872061" y="953072"/>
                </a:lnTo>
                <a:lnTo>
                  <a:pt x="0" y="95307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7" id="37"/>
          <p:cNvSpPr txBox="true"/>
          <p:nvPr/>
        </p:nvSpPr>
        <p:spPr>
          <a:xfrm rot="0">
            <a:off x="16387239" y="7785892"/>
            <a:ext cx="826769" cy="2394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78"/>
              </a:lnSpc>
              <a:spcBef>
                <a:spcPct val="0"/>
              </a:spcBef>
            </a:pPr>
            <a:r>
              <a:rPr lang="en-US" sz="1413">
                <a:solidFill>
                  <a:srgbClr val="000000"/>
                </a:solidFill>
                <a:latin typeface="Touvlo"/>
                <a:ea typeface="Touvlo"/>
                <a:cs typeface="Touvlo"/>
                <a:sym typeface="Touvlo"/>
              </a:rPr>
              <a:t>Applicant</a:t>
            </a:r>
          </a:p>
        </p:txBody>
      </p:sp>
      <p:sp>
        <p:nvSpPr>
          <p:cNvPr name="AutoShape 38" id="38"/>
          <p:cNvSpPr/>
          <p:nvPr/>
        </p:nvSpPr>
        <p:spPr>
          <a:xfrm flipH="true" flipV="true">
            <a:off x="15205770" y="3087103"/>
            <a:ext cx="1181469" cy="4373857"/>
          </a:xfrm>
          <a:prstGeom prst="line">
            <a:avLst/>
          </a:prstGeom>
          <a:ln cap="flat" w="28575">
            <a:solidFill>
              <a:srgbClr val="000000"/>
            </a:solidFill>
            <a:prstDash val="solid"/>
            <a:headEnd type="oval" len="lg" w="lg"/>
            <a:tailEnd type="arrow" len="sm" w="med"/>
          </a:ln>
        </p:spPr>
      </p:sp>
      <p:grpSp>
        <p:nvGrpSpPr>
          <p:cNvPr name="Group 39" id="39"/>
          <p:cNvGrpSpPr/>
          <p:nvPr/>
        </p:nvGrpSpPr>
        <p:grpSpPr>
          <a:xfrm rot="0">
            <a:off x="12547724" y="7929739"/>
            <a:ext cx="2671016" cy="773783"/>
            <a:chOff x="0" y="0"/>
            <a:chExt cx="812800" cy="235465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812800" cy="235465"/>
            </a:xfrm>
            <a:custGeom>
              <a:avLst/>
              <a:gdLst/>
              <a:ahLst/>
              <a:cxnLst/>
              <a:rect r="r" b="b" t="t" l="l"/>
              <a:pathLst>
                <a:path h="235465" w="812800">
                  <a:moveTo>
                    <a:pt x="37680" y="0"/>
                  </a:moveTo>
                  <a:lnTo>
                    <a:pt x="775120" y="0"/>
                  </a:lnTo>
                  <a:cubicBezTo>
                    <a:pt x="785113" y="0"/>
                    <a:pt x="794697" y="3970"/>
                    <a:pt x="801764" y="11036"/>
                  </a:cubicBezTo>
                  <a:cubicBezTo>
                    <a:pt x="808830" y="18103"/>
                    <a:pt x="812800" y="27687"/>
                    <a:pt x="812800" y="37680"/>
                  </a:cubicBezTo>
                  <a:lnTo>
                    <a:pt x="812800" y="197785"/>
                  </a:lnTo>
                  <a:cubicBezTo>
                    <a:pt x="812800" y="218595"/>
                    <a:pt x="795930" y="235465"/>
                    <a:pt x="775120" y="235465"/>
                  </a:cubicBezTo>
                  <a:lnTo>
                    <a:pt x="37680" y="235465"/>
                  </a:lnTo>
                  <a:cubicBezTo>
                    <a:pt x="27687" y="235465"/>
                    <a:pt x="18103" y="231495"/>
                    <a:pt x="11036" y="224429"/>
                  </a:cubicBezTo>
                  <a:cubicBezTo>
                    <a:pt x="3970" y="217362"/>
                    <a:pt x="0" y="207778"/>
                    <a:pt x="0" y="197785"/>
                  </a:cubicBezTo>
                  <a:lnTo>
                    <a:pt x="0" y="37680"/>
                  </a:lnTo>
                  <a:cubicBezTo>
                    <a:pt x="0" y="27687"/>
                    <a:pt x="3970" y="18103"/>
                    <a:pt x="11036" y="11036"/>
                  </a:cubicBezTo>
                  <a:cubicBezTo>
                    <a:pt x="18103" y="3970"/>
                    <a:pt x="27687" y="0"/>
                    <a:pt x="37680" y="0"/>
                  </a:cubicBezTo>
                  <a:close/>
                </a:path>
              </a:pathLst>
            </a:custGeom>
            <a:solidFill>
              <a:srgbClr val="7ED957"/>
            </a:solidFill>
            <a:ln cap="sq">
              <a:noFill/>
              <a:prstDash val="solid"/>
              <a:miter/>
            </a:ln>
          </p:spPr>
        </p:sp>
        <p:sp>
          <p:nvSpPr>
            <p:cNvPr name="TextBox 41" id="41"/>
            <p:cNvSpPr txBox="true"/>
            <p:nvPr/>
          </p:nvSpPr>
          <p:spPr>
            <a:xfrm>
              <a:off x="0" y="-28575"/>
              <a:ext cx="812800" cy="26404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60"/>
                </a:lnSpc>
              </a:pPr>
            </a:p>
          </p:txBody>
        </p:sp>
      </p:grpSp>
      <p:sp>
        <p:nvSpPr>
          <p:cNvPr name="TextBox 42" id="42"/>
          <p:cNvSpPr txBox="true"/>
          <p:nvPr/>
        </p:nvSpPr>
        <p:spPr>
          <a:xfrm rot="0">
            <a:off x="13092394" y="8182611"/>
            <a:ext cx="1555735" cy="2394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78"/>
              </a:lnSpc>
              <a:spcBef>
                <a:spcPct val="0"/>
              </a:spcBef>
            </a:pPr>
            <a:r>
              <a:rPr lang="en-US" sz="1413">
                <a:solidFill>
                  <a:srgbClr val="FFFFFF"/>
                </a:solidFill>
                <a:latin typeface="Touvlo"/>
                <a:ea typeface="Touvlo"/>
                <a:cs typeface="Touvlo"/>
                <a:sym typeface="Touvlo"/>
              </a:rPr>
              <a:t>Donation Request</a:t>
            </a:r>
          </a:p>
        </p:txBody>
      </p:sp>
      <p:sp>
        <p:nvSpPr>
          <p:cNvPr name="AutoShape 43" id="43"/>
          <p:cNvSpPr/>
          <p:nvPr/>
        </p:nvSpPr>
        <p:spPr>
          <a:xfrm>
            <a:off x="11616998" y="7514540"/>
            <a:ext cx="930726" cy="802090"/>
          </a:xfrm>
          <a:prstGeom prst="line">
            <a:avLst/>
          </a:prstGeom>
          <a:ln cap="flat" w="28575">
            <a:solidFill>
              <a:srgbClr val="000000"/>
            </a:solidFill>
            <a:prstDash val="solid"/>
            <a:headEnd type="oval" len="lg" w="lg"/>
            <a:tailEnd type="arrow" len="sm" w="med"/>
          </a:ln>
        </p:spPr>
      </p:sp>
      <p:sp>
        <p:nvSpPr>
          <p:cNvPr name="AutoShape 44" id="44"/>
          <p:cNvSpPr/>
          <p:nvPr/>
        </p:nvSpPr>
        <p:spPr>
          <a:xfrm flipH="true">
            <a:off x="15218740" y="3330963"/>
            <a:ext cx="1011453" cy="4985668"/>
          </a:xfrm>
          <a:prstGeom prst="line">
            <a:avLst/>
          </a:prstGeom>
          <a:ln cap="flat" w="28575">
            <a:solidFill>
              <a:srgbClr val="000000"/>
            </a:solidFill>
            <a:prstDash val="solid"/>
            <a:headEnd type="triangle" len="med" w="lg"/>
            <a:tailEnd type="oval" len="lg" w="lg"/>
          </a:ln>
        </p:spPr>
      </p:sp>
      <p:grpSp>
        <p:nvGrpSpPr>
          <p:cNvPr name="Group 45" id="45"/>
          <p:cNvGrpSpPr/>
          <p:nvPr/>
        </p:nvGrpSpPr>
        <p:grpSpPr>
          <a:xfrm rot="0">
            <a:off x="12534754" y="8950309"/>
            <a:ext cx="2671016" cy="773783"/>
            <a:chOff x="0" y="0"/>
            <a:chExt cx="812800" cy="235465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812800" cy="235465"/>
            </a:xfrm>
            <a:custGeom>
              <a:avLst/>
              <a:gdLst/>
              <a:ahLst/>
              <a:cxnLst/>
              <a:rect r="r" b="b" t="t" l="l"/>
              <a:pathLst>
                <a:path h="235465" w="812800">
                  <a:moveTo>
                    <a:pt x="37680" y="0"/>
                  </a:moveTo>
                  <a:lnTo>
                    <a:pt x="775120" y="0"/>
                  </a:lnTo>
                  <a:cubicBezTo>
                    <a:pt x="785113" y="0"/>
                    <a:pt x="794697" y="3970"/>
                    <a:pt x="801764" y="11036"/>
                  </a:cubicBezTo>
                  <a:cubicBezTo>
                    <a:pt x="808830" y="18103"/>
                    <a:pt x="812800" y="27687"/>
                    <a:pt x="812800" y="37680"/>
                  </a:cubicBezTo>
                  <a:lnTo>
                    <a:pt x="812800" y="197785"/>
                  </a:lnTo>
                  <a:cubicBezTo>
                    <a:pt x="812800" y="218595"/>
                    <a:pt x="795930" y="235465"/>
                    <a:pt x="775120" y="235465"/>
                  </a:cubicBezTo>
                  <a:lnTo>
                    <a:pt x="37680" y="235465"/>
                  </a:lnTo>
                  <a:cubicBezTo>
                    <a:pt x="27687" y="235465"/>
                    <a:pt x="18103" y="231495"/>
                    <a:pt x="11036" y="224429"/>
                  </a:cubicBezTo>
                  <a:cubicBezTo>
                    <a:pt x="3970" y="217362"/>
                    <a:pt x="0" y="207778"/>
                    <a:pt x="0" y="197785"/>
                  </a:cubicBezTo>
                  <a:lnTo>
                    <a:pt x="0" y="37680"/>
                  </a:lnTo>
                  <a:cubicBezTo>
                    <a:pt x="0" y="27687"/>
                    <a:pt x="3970" y="18103"/>
                    <a:pt x="11036" y="11036"/>
                  </a:cubicBezTo>
                  <a:cubicBezTo>
                    <a:pt x="18103" y="3970"/>
                    <a:pt x="27687" y="0"/>
                    <a:pt x="37680" y="0"/>
                  </a:cubicBezTo>
                  <a:close/>
                </a:path>
              </a:pathLst>
            </a:custGeom>
            <a:solidFill>
              <a:srgbClr val="38B6FF"/>
            </a:solidFill>
            <a:ln cap="sq">
              <a:noFill/>
              <a:prstDash val="solid"/>
              <a:miter/>
            </a:ln>
          </p:spPr>
        </p:sp>
        <p:sp>
          <p:nvSpPr>
            <p:cNvPr name="TextBox 47" id="47"/>
            <p:cNvSpPr txBox="true"/>
            <p:nvPr/>
          </p:nvSpPr>
          <p:spPr>
            <a:xfrm>
              <a:off x="0" y="-28575"/>
              <a:ext cx="812800" cy="26404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60"/>
                </a:lnSpc>
              </a:pPr>
            </a:p>
          </p:txBody>
        </p:sp>
      </p:grpSp>
      <p:sp>
        <p:nvSpPr>
          <p:cNvPr name="TextBox 48" id="48"/>
          <p:cNvSpPr txBox="true"/>
          <p:nvPr/>
        </p:nvSpPr>
        <p:spPr>
          <a:xfrm rot="0">
            <a:off x="13030873" y="9203180"/>
            <a:ext cx="1678778" cy="2394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78"/>
              </a:lnSpc>
              <a:spcBef>
                <a:spcPct val="0"/>
              </a:spcBef>
            </a:pPr>
            <a:r>
              <a:rPr lang="en-US" sz="1413">
                <a:solidFill>
                  <a:srgbClr val="FFFFFF"/>
                </a:solidFill>
                <a:latin typeface="Touvlo"/>
                <a:ea typeface="Touvlo"/>
                <a:cs typeface="Touvlo"/>
                <a:sym typeface="Touvlo"/>
              </a:rPr>
              <a:t>Completion Report</a:t>
            </a:r>
          </a:p>
        </p:txBody>
      </p:sp>
      <p:sp>
        <p:nvSpPr>
          <p:cNvPr name="AutoShape 49" id="49"/>
          <p:cNvSpPr/>
          <p:nvPr/>
        </p:nvSpPr>
        <p:spPr>
          <a:xfrm flipH="true">
            <a:off x="15205770" y="3473995"/>
            <a:ext cx="1024424" cy="5724214"/>
          </a:xfrm>
          <a:prstGeom prst="line">
            <a:avLst/>
          </a:prstGeom>
          <a:ln cap="flat" w="28575">
            <a:solidFill>
              <a:srgbClr val="000000"/>
            </a:solidFill>
            <a:prstDash val="solid"/>
            <a:headEnd type="oval" len="lg" w="lg"/>
            <a:tailEnd type="triangle" len="med" w="lg"/>
          </a:ln>
        </p:spPr>
      </p:sp>
      <p:sp>
        <p:nvSpPr>
          <p:cNvPr name="AutoShape 50" id="50"/>
          <p:cNvSpPr/>
          <p:nvPr/>
        </p:nvSpPr>
        <p:spPr>
          <a:xfrm>
            <a:off x="11616998" y="7729117"/>
            <a:ext cx="917756" cy="1422519"/>
          </a:xfrm>
          <a:prstGeom prst="line">
            <a:avLst/>
          </a:prstGeom>
          <a:ln cap="flat" w="28575">
            <a:solidFill>
              <a:srgbClr val="000000"/>
            </a:solidFill>
            <a:prstDash val="solid"/>
            <a:headEnd type="triangle" len="med" w="lg"/>
            <a:tailEnd type="oval" len="lg" w="lg"/>
          </a:ln>
        </p:spPr>
      </p:sp>
      <p:sp>
        <p:nvSpPr>
          <p:cNvPr name="AutoShape 51" id="51"/>
          <p:cNvSpPr/>
          <p:nvPr/>
        </p:nvSpPr>
        <p:spPr>
          <a:xfrm flipH="true">
            <a:off x="15205770" y="7620348"/>
            <a:ext cx="1181469" cy="1879716"/>
          </a:xfrm>
          <a:prstGeom prst="line">
            <a:avLst/>
          </a:prstGeom>
          <a:ln cap="flat" w="28575">
            <a:solidFill>
              <a:srgbClr val="000000"/>
            </a:solidFill>
            <a:prstDash val="solid"/>
            <a:headEnd type="triangle" len="med" w="lg"/>
            <a:tailEnd type="oval" len="lg" w="lg"/>
          </a:ln>
        </p:spPr>
      </p:sp>
      <p:grpSp>
        <p:nvGrpSpPr>
          <p:cNvPr name="Group 52" id="52"/>
          <p:cNvGrpSpPr/>
          <p:nvPr/>
        </p:nvGrpSpPr>
        <p:grpSpPr>
          <a:xfrm rot="0">
            <a:off x="12547724" y="5861060"/>
            <a:ext cx="2671016" cy="773783"/>
            <a:chOff x="0" y="0"/>
            <a:chExt cx="812800" cy="235465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812800" cy="235465"/>
            </a:xfrm>
            <a:custGeom>
              <a:avLst/>
              <a:gdLst/>
              <a:ahLst/>
              <a:cxnLst/>
              <a:rect r="r" b="b" t="t" l="l"/>
              <a:pathLst>
                <a:path h="235465" w="812800">
                  <a:moveTo>
                    <a:pt x="37680" y="0"/>
                  </a:moveTo>
                  <a:lnTo>
                    <a:pt x="775120" y="0"/>
                  </a:lnTo>
                  <a:cubicBezTo>
                    <a:pt x="785113" y="0"/>
                    <a:pt x="794697" y="3970"/>
                    <a:pt x="801764" y="11036"/>
                  </a:cubicBezTo>
                  <a:cubicBezTo>
                    <a:pt x="808830" y="18103"/>
                    <a:pt x="812800" y="27687"/>
                    <a:pt x="812800" y="37680"/>
                  </a:cubicBezTo>
                  <a:lnTo>
                    <a:pt x="812800" y="197785"/>
                  </a:lnTo>
                  <a:cubicBezTo>
                    <a:pt x="812800" y="218595"/>
                    <a:pt x="795930" y="235465"/>
                    <a:pt x="775120" y="235465"/>
                  </a:cubicBezTo>
                  <a:lnTo>
                    <a:pt x="37680" y="235465"/>
                  </a:lnTo>
                  <a:cubicBezTo>
                    <a:pt x="27687" y="235465"/>
                    <a:pt x="18103" y="231495"/>
                    <a:pt x="11036" y="224429"/>
                  </a:cubicBezTo>
                  <a:cubicBezTo>
                    <a:pt x="3970" y="217362"/>
                    <a:pt x="0" y="207778"/>
                    <a:pt x="0" y="197785"/>
                  </a:cubicBezTo>
                  <a:lnTo>
                    <a:pt x="0" y="37680"/>
                  </a:lnTo>
                  <a:cubicBezTo>
                    <a:pt x="0" y="27687"/>
                    <a:pt x="3970" y="18103"/>
                    <a:pt x="11036" y="11036"/>
                  </a:cubicBezTo>
                  <a:cubicBezTo>
                    <a:pt x="18103" y="3970"/>
                    <a:pt x="27687" y="0"/>
                    <a:pt x="37680" y="0"/>
                  </a:cubicBezTo>
                  <a:close/>
                </a:path>
              </a:pathLst>
            </a:custGeom>
            <a:solidFill>
              <a:srgbClr val="E2A9F1"/>
            </a:solidFill>
            <a:ln cap="sq">
              <a:noFill/>
              <a:prstDash val="solid"/>
              <a:miter/>
            </a:ln>
          </p:spPr>
        </p:sp>
        <p:sp>
          <p:nvSpPr>
            <p:cNvPr name="TextBox 54" id="54"/>
            <p:cNvSpPr txBox="true"/>
            <p:nvPr/>
          </p:nvSpPr>
          <p:spPr>
            <a:xfrm>
              <a:off x="0" y="-28575"/>
              <a:ext cx="812800" cy="26404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60"/>
                </a:lnSpc>
              </a:pPr>
            </a:p>
          </p:txBody>
        </p:sp>
      </p:grpSp>
      <p:sp>
        <p:nvSpPr>
          <p:cNvPr name="TextBox 55" id="55"/>
          <p:cNvSpPr txBox="true"/>
          <p:nvPr/>
        </p:nvSpPr>
        <p:spPr>
          <a:xfrm rot="0">
            <a:off x="12741933" y="6119037"/>
            <a:ext cx="2242110" cy="2394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78"/>
              </a:lnSpc>
              <a:spcBef>
                <a:spcPct val="0"/>
              </a:spcBef>
            </a:pPr>
            <a:r>
              <a:rPr lang="en-US" sz="1413">
                <a:solidFill>
                  <a:srgbClr val="FFFFFF"/>
                </a:solidFill>
                <a:latin typeface="Touvlo"/>
                <a:ea typeface="Touvlo"/>
                <a:cs typeface="Touvlo"/>
                <a:sym typeface="Touvlo"/>
              </a:rPr>
              <a:t>Donor Registration/Login</a:t>
            </a:r>
          </a:p>
        </p:txBody>
      </p:sp>
      <p:sp>
        <p:nvSpPr>
          <p:cNvPr name="AutoShape 56" id="56"/>
          <p:cNvSpPr/>
          <p:nvPr/>
        </p:nvSpPr>
        <p:spPr>
          <a:xfrm flipV="true">
            <a:off x="11616998" y="6247952"/>
            <a:ext cx="930726" cy="828119"/>
          </a:xfrm>
          <a:prstGeom prst="line">
            <a:avLst/>
          </a:prstGeom>
          <a:ln cap="flat" w="28575">
            <a:solidFill>
              <a:srgbClr val="000000"/>
            </a:solidFill>
            <a:prstDash val="solid"/>
            <a:headEnd type="oval" len="lg" w="lg"/>
            <a:tailEnd type="arrow" len="sm" w="med"/>
          </a:ln>
        </p:spPr>
      </p:sp>
      <p:sp>
        <p:nvSpPr>
          <p:cNvPr name="AutoShape 57" id="57"/>
          <p:cNvSpPr/>
          <p:nvPr/>
        </p:nvSpPr>
        <p:spPr>
          <a:xfrm flipH="true">
            <a:off x="15205770" y="3579440"/>
            <a:ext cx="1024424" cy="566180"/>
          </a:xfrm>
          <a:prstGeom prst="line">
            <a:avLst/>
          </a:prstGeom>
          <a:ln cap="flat" w="28575">
            <a:solidFill>
              <a:srgbClr val="000000"/>
            </a:solidFill>
            <a:prstDash val="solid"/>
            <a:headEnd type="oval" len="lg" w="lg"/>
            <a:tailEnd type="arrow" len="sm" w="med"/>
          </a:ln>
        </p:spPr>
      </p:sp>
      <p:sp>
        <p:nvSpPr>
          <p:cNvPr name="TextBox 58" id="58"/>
          <p:cNvSpPr txBox="true"/>
          <p:nvPr/>
        </p:nvSpPr>
        <p:spPr>
          <a:xfrm rot="0">
            <a:off x="12785031" y="1882247"/>
            <a:ext cx="2155915" cy="3709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655"/>
              </a:lnSpc>
              <a:spcBef>
                <a:spcPct val="0"/>
              </a:spcBef>
            </a:pPr>
            <a:r>
              <a:rPr lang="en-US" sz="1896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Use Case Diagram</a:t>
            </a:r>
          </a:p>
        </p:txBody>
      </p:sp>
    </p:spTree>
  </p:cSld>
  <p:clrMapOvr>
    <a:masterClrMapping/>
  </p:clrMapOvr>
  <p:transition spd="slow">
    <p:cover dir="l"/>
  </p:transition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480674" y="1028700"/>
            <a:ext cx="851827" cy="949111"/>
          </a:xfrm>
          <a:custGeom>
            <a:avLst/>
            <a:gdLst/>
            <a:ahLst/>
            <a:cxnLst/>
            <a:rect r="r" b="b" t="t" l="l"/>
            <a:pathLst>
              <a:path h="949111" w="851827">
                <a:moveTo>
                  <a:pt x="0" y="0"/>
                </a:moveTo>
                <a:lnTo>
                  <a:pt x="851827" y="0"/>
                </a:lnTo>
                <a:lnTo>
                  <a:pt x="851827" y="949111"/>
                </a:lnTo>
                <a:lnTo>
                  <a:pt x="0" y="94911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028700" y="3502626"/>
            <a:ext cx="15463804" cy="3562587"/>
            <a:chOff x="0" y="0"/>
            <a:chExt cx="4072771" cy="938294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072772" cy="938294"/>
            </a:xfrm>
            <a:custGeom>
              <a:avLst/>
              <a:gdLst/>
              <a:ahLst/>
              <a:cxnLst/>
              <a:rect r="r" b="b" t="t" l="l"/>
              <a:pathLst>
                <a:path h="938294" w="4072772">
                  <a:moveTo>
                    <a:pt x="35045" y="0"/>
                  </a:moveTo>
                  <a:lnTo>
                    <a:pt x="4037726" y="0"/>
                  </a:lnTo>
                  <a:cubicBezTo>
                    <a:pt x="4047021" y="0"/>
                    <a:pt x="4055935" y="3692"/>
                    <a:pt x="4062507" y="10265"/>
                  </a:cubicBezTo>
                  <a:cubicBezTo>
                    <a:pt x="4069079" y="16837"/>
                    <a:pt x="4072772" y="25751"/>
                    <a:pt x="4072772" y="35045"/>
                  </a:cubicBezTo>
                  <a:lnTo>
                    <a:pt x="4072772" y="903249"/>
                  </a:lnTo>
                  <a:cubicBezTo>
                    <a:pt x="4072772" y="922604"/>
                    <a:pt x="4057081" y="938294"/>
                    <a:pt x="4037726" y="938294"/>
                  </a:cubicBezTo>
                  <a:lnTo>
                    <a:pt x="35045" y="938294"/>
                  </a:lnTo>
                  <a:cubicBezTo>
                    <a:pt x="15690" y="938294"/>
                    <a:pt x="0" y="922604"/>
                    <a:pt x="0" y="903249"/>
                  </a:cubicBezTo>
                  <a:lnTo>
                    <a:pt x="0" y="35045"/>
                  </a:lnTo>
                  <a:cubicBezTo>
                    <a:pt x="0" y="15690"/>
                    <a:pt x="15690" y="0"/>
                    <a:pt x="35045" y="0"/>
                  </a:cubicBezTo>
                  <a:close/>
                </a:path>
              </a:pathLst>
            </a:custGeom>
            <a:solidFill>
              <a:srgbClr val="00BF63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072771" cy="97639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15"/>
                </a:lnSpc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469968" y="4467041"/>
            <a:ext cx="2999476" cy="17044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655"/>
              </a:lnSpc>
              <a:spcBef>
                <a:spcPct val="0"/>
              </a:spcBef>
            </a:pPr>
            <a:r>
              <a:rPr lang="en-US" sz="1896">
                <a:solidFill>
                  <a:srgbClr val="FFFFFF"/>
                </a:solidFill>
                <a:latin typeface="Agrandir"/>
                <a:ea typeface="Agrandir"/>
                <a:cs typeface="Agrandir"/>
                <a:sym typeface="Agrandir"/>
              </a:rPr>
              <a:t>C</a:t>
            </a:r>
            <a:r>
              <a:rPr lang="en-US" sz="1896">
                <a:solidFill>
                  <a:srgbClr val="FFFFFF"/>
                </a:solidFill>
                <a:latin typeface="Agrandir"/>
                <a:ea typeface="Agrandir"/>
                <a:cs typeface="Agrandir"/>
                <a:sym typeface="Agrandir"/>
              </a:rPr>
              <a:t>ore func</a:t>
            </a:r>
            <a:r>
              <a:rPr lang="en-US" sz="1896">
                <a:solidFill>
                  <a:srgbClr val="FFFFFF"/>
                </a:solidFill>
                <a:latin typeface="Agrandir"/>
                <a:ea typeface="Agrandir"/>
                <a:cs typeface="Agrandir"/>
                <a:sym typeface="Agrandir"/>
              </a:rPr>
              <a:t>tions: volunteer registration, applicant verification, donor funding, and admin control panel.</a:t>
            </a:r>
          </a:p>
        </p:txBody>
      </p:sp>
      <p:sp>
        <p:nvSpPr>
          <p:cNvPr name="AutoShape 7" id="7"/>
          <p:cNvSpPr/>
          <p:nvPr/>
        </p:nvSpPr>
        <p:spPr>
          <a:xfrm>
            <a:off x="5469444" y="3502626"/>
            <a:ext cx="0" cy="3562587"/>
          </a:xfrm>
          <a:prstGeom prst="line">
            <a:avLst/>
          </a:prstGeom>
          <a:ln cap="flat" w="76200">
            <a:solidFill>
              <a:srgbClr val="545454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8" id="8"/>
          <p:cNvSpPr/>
          <p:nvPr/>
        </p:nvSpPr>
        <p:spPr>
          <a:xfrm flipH="true">
            <a:off x="10416416" y="3518628"/>
            <a:ext cx="69450" cy="3546585"/>
          </a:xfrm>
          <a:prstGeom prst="line">
            <a:avLst/>
          </a:prstGeom>
          <a:ln cap="flat" w="76200">
            <a:solidFill>
              <a:srgbClr val="545454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9" id="9"/>
          <p:cNvGrpSpPr/>
          <p:nvPr/>
        </p:nvGrpSpPr>
        <p:grpSpPr>
          <a:xfrm rot="0">
            <a:off x="1436882" y="6347667"/>
            <a:ext cx="594936" cy="594936"/>
            <a:chOff x="0" y="0"/>
            <a:chExt cx="812800" cy="8128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388E3C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15"/>
                </a:lnSpc>
              </a:pPr>
              <a:r>
                <a:rPr lang="en-US" b="true" sz="1796">
                  <a:solidFill>
                    <a:srgbClr val="FFFFFF"/>
                  </a:solidFill>
                  <a:latin typeface="Gotham Bold"/>
                  <a:ea typeface="Gotham Bold"/>
                  <a:cs typeface="Gotham Bold"/>
                  <a:sym typeface="Gotham Bold"/>
                </a:rPr>
                <a:t>1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5751337" y="6347667"/>
            <a:ext cx="610566" cy="610566"/>
            <a:chOff x="0" y="0"/>
            <a:chExt cx="812800" cy="8128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388E3C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15"/>
                </a:lnSpc>
              </a:pPr>
              <a:r>
                <a:rPr lang="en-US" b="true" sz="1796">
                  <a:solidFill>
                    <a:srgbClr val="FFFFFF"/>
                  </a:solidFill>
                  <a:latin typeface="Gotham Bold"/>
                  <a:ea typeface="Gotham Bold"/>
                  <a:cs typeface="Gotham Bold"/>
                  <a:sym typeface="Gotham Bold"/>
                </a:rPr>
                <a:t>2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10924876" y="6332038"/>
            <a:ext cx="610566" cy="610566"/>
            <a:chOff x="0" y="0"/>
            <a:chExt cx="812800" cy="8128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388E3C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15"/>
                </a:lnSpc>
              </a:pPr>
              <a:r>
                <a:rPr lang="en-US" b="true" sz="1796">
                  <a:solidFill>
                    <a:srgbClr val="FFFFFF"/>
                  </a:solidFill>
                  <a:latin typeface="Gotham Bold"/>
                  <a:ea typeface="Gotham Bold"/>
                  <a:cs typeface="Gotham Bold"/>
                  <a:sym typeface="Gotham Bold"/>
                </a:rPr>
                <a:t>3</a:t>
              </a:r>
            </a:p>
          </p:txBody>
        </p:sp>
      </p:grpSp>
      <p:sp>
        <p:nvSpPr>
          <p:cNvPr name="Freeform 18" id="18"/>
          <p:cNvSpPr/>
          <p:nvPr/>
        </p:nvSpPr>
        <p:spPr>
          <a:xfrm flipH="false" flipV="false" rot="0">
            <a:off x="1028700" y="4581747"/>
            <a:ext cx="1450831" cy="1271291"/>
          </a:xfrm>
          <a:custGeom>
            <a:avLst/>
            <a:gdLst/>
            <a:ahLst/>
            <a:cxnLst/>
            <a:rect r="r" b="b" t="t" l="l"/>
            <a:pathLst>
              <a:path h="1271291" w="1450831">
                <a:moveTo>
                  <a:pt x="0" y="0"/>
                </a:moveTo>
                <a:lnTo>
                  <a:pt x="1450831" y="0"/>
                </a:lnTo>
                <a:lnTo>
                  <a:pt x="1450831" y="1271290"/>
                </a:lnTo>
                <a:lnTo>
                  <a:pt x="0" y="127129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5946943" y="4325489"/>
            <a:ext cx="1380141" cy="1916862"/>
          </a:xfrm>
          <a:custGeom>
            <a:avLst/>
            <a:gdLst/>
            <a:ahLst/>
            <a:cxnLst/>
            <a:rect r="r" b="b" t="t" l="l"/>
            <a:pathLst>
              <a:path h="1916862" w="1380141">
                <a:moveTo>
                  <a:pt x="0" y="0"/>
                </a:moveTo>
                <a:lnTo>
                  <a:pt x="1380140" y="0"/>
                </a:lnTo>
                <a:lnTo>
                  <a:pt x="1380140" y="1916862"/>
                </a:lnTo>
                <a:lnTo>
                  <a:pt x="0" y="191686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20" id="20"/>
          <p:cNvSpPr/>
          <p:nvPr/>
        </p:nvSpPr>
        <p:spPr>
          <a:xfrm flipH="false" flipV="false" rot="0">
            <a:off x="11018560" y="4325489"/>
            <a:ext cx="1744917" cy="1901817"/>
          </a:xfrm>
          <a:custGeom>
            <a:avLst/>
            <a:gdLst/>
            <a:ahLst/>
            <a:cxnLst/>
            <a:rect r="r" b="b" t="t" l="l"/>
            <a:pathLst>
              <a:path h="1901817" w="1744917">
                <a:moveTo>
                  <a:pt x="0" y="0"/>
                </a:moveTo>
                <a:lnTo>
                  <a:pt x="1744917" y="0"/>
                </a:lnTo>
                <a:lnTo>
                  <a:pt x="1744917" y="1901817"/>
                </a:lnTo>
                <a:lnTo>
                  <a:pt x="0" y="190181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21" id="21"/>
          <p:cNvSpPr txBox="true"/>
          <p:nvPr/>
        </p:nvSpPr>
        <p:spPr>
          <a:xfrm rot="0">
            <a:off x="1028700" y="2044767"/>
            <a:ext cx="1755775" cy="3026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15"/>
              </a:lnSpc>
              <a:spcBef>
                <a:spcPct val="0"/>
              </a:spcBef>
            </a:pPr>
            <a:r>
              <a:rPr lang="en-US" b="true" sz="1796">
                <a:solidFill>
                  <a:srgbClr val="388E3C"/>
                </a:solidFill>
                <a:latin typeface="Gotham Bold"/>
                <a:ea typeface="Gotham Bold"/>
                <a:cs typeface="Gotham Bold"/>
                <a:sym typeface="Gotham Bold"/>
              </a:rPr>
              <a:t>Haat Baran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6420677" y="1359959"/>
            <a:ext cx="5446647" cy="9874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6999"/>
              </a:lnSpc>
              <a:spcBef>
                <a:spcPct val="0"/>
              </a:spcBef>
            </a:pPr>
            <a:r>
              <a:rPr lang="en-US" b="true" sz="4999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System Evolution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028700" y="2856558"/>
            <a:ext cx="14617452" cy="3709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655"/>
              </a:lnSpc>
              <a:spcBef>
                <a:spcPct val="0"/>
              </a:spcBef>
            </a:pPr>
            <a:r>
              <a:rPr lang="en-US" sz="1896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The Haat Baran system is designed to be flexible, upgradable, and scalable according to user demand and technological changes. 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7383671" y="4467041"/>
            <a:ext cx="2999476" cy="13710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655"/>
              </a:lnSpc>
              <a:spcBef>
                <a:spcPct val="0"/>
              </a:spcBef>
            </a:pPr>
            <a:r>
              <a:rPr lang="en-US" sz="1896">
                <a:solidFill>
                  <a:srgbClr val="FFFFFF"/>
                </a:solidFill>
                <a:latin typeface="Agrandir"/>
                <a:ea typeface="Agrandir"/>
                <a:cs typeface="Agrandir"/>
                <a:sym typeface="Agrandir"/>
              </a:rPr>
              <a:t>I</a:t>
            </a:r>
            <a:r>
              <a:rPr lang="en-US" sz="1896">
                <a:solidFill>
                  <a:srgbClr val="FFFFFF"/>
                </a:solidFill>
                <a:latin typeface="Agrandir"/>
                <a:ea typeface="Agrandir"/>
                <a:cs typeface="Agrandir"/>
                <a:sym typeface="Agrandir"/>
              </a:rPr>
              <a:t>ntroduction of post-funding tracking and automated progress reports for donors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3050246" y="3900161"/>
            <a:ext cx="1838920" cy="4934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75"/>
              </a:lnSpc>
              <a:spcBef>
                <a:spcPct val="0"/>
              </a:spcBef>
            </a:pPr>
            <a:r>
              <a:rPr lang="en-US" b="true" sz="2696">
                <a:solidFill>
                  <a:srgbClr val="FFFFFF"/>
                </a:solidFill>
                <a:latin typeface="Telegraf Bold"/>
                <a:ea typeface="Telegraf Bold"/>
                <a:cs typeface="Telegraf Bold"/>
                <a:sym typeface="Telegraf Bold"/>
              </a:rPr>
              <a:t>Version 1.0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7706628" y="3900161"/>
            <a:ext cx="1891308" cy="4934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75"/>
              </a:lnSpc>
              <a:spcBef>
                <a:spcPct val="0"/>
              </a:spcBef>
            </a:pPr>
            <a:r>
              <a:rPr lang="en-US" b="true" sz="2696">
                <a:solidFill>
                  <a:srgbClr val="FFFFFF"/>
                </a:solidFill>
                <a:latin typeface="Telegraf Bold"/>
                <a:ea typeface="Telegraf Bold"/>
                <a:cs typeface="Telegraf Bold"/>
                <a:sym typeface="Telegraf Bold"/>
              </a:rPr>
              <a:t>Version 2.0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3198492" y="3900161"/>
            <a:ext cx="1879253" cy="4934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75"/>
              </a:lnSpc>
              <a:spcBef>
                <a:spcPct val="0"/>
              </a:spcBef>
            </a:pPr>
            <a:r>
              <a:rPr lang="en-US" b="true" sz="2696">
                <a:solidFill>
                  <a:srgbClr val="FFFFFF"/>
                </a:solidFill>
                <a:latin typeface="Telegraf Bold"/>
                <a:ea typeface="Telegraf Bold"/>
                <a:cs typeface="Telegraf Bold"/>
                <a:sym typeface="Telegraf Bold"/>
              </a:rPr>
              <a:t>Version 3.0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2875045" y="4467041"/>
            <a:ext cx="2526147" cy="20378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655"/>
              </a:lnSpc>
              <a:spcBef>
                <a:spcPct val="0"/>
              </a:spcBef>
            </a:pPr>
            <a:r>
              <a:rPr lang="en-US" sz="1896">
                <a:solidFill>
                  <a:srgbClr val="FFFFFF"/>
                </a:solidFill>
                <a:latin typeface="Agrandir"/>
                <a:ea typeface="Agrandir"/>
                <a:cs typeface="Agrandir"/>
                <a:sym typeface="Agrandir"/>
              </a:rPr>
              <a:t>Expansi</a:t>
            </a:r>
            <a:r>
              <a:rPr lang="en-US" sz="1896">
                <a:solidFill>
                  <a:srgbClr val="FFFFFF"/>
                </a:solidFill>
                <a:latin typeface="Agrandir"/>
                <a:ea typeface="Agrandir"/>
                <a:cs typeface="Agrandir"/>
                <a:sym typeface="Agrandir"/>
              </a:rPr>
              <a:t>on with AI-driven verification assistance, fraud detection, and predictive funding suggestions. </a:t>
            </a:r>
          </a:p>
        </p:txBody>
      </p:sp>
    </p:spTree>
  </p:cSld>
  <p:clrMapOvr>
    <a:masterClrMapping/>
  </p:clrMapOvr>
  <p:transition spd="slow">
    <p:push dir="l"/>
  </p:transition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902954" y="5280899"/>
            <a:ext cx="10482091" cy="21374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583"/>
              </a:lnSpc>
              <a:spcBef>
                <a:spcPct val="0"/>
              </a:spcBef>
            </a:pPr>
            <a:r>
              <a:rPr lang="en-US" b="true" sz="11845">
                <a:solidFill>
                  <a:srgbClr val="272521"/>
                </a:solidFill>
                <a:latin typeface="Poppins Bold"/>
                <a:ea typeface="Poppins Bold"/>
                <a:cs typeface="Poppins Bold"/>
                <a:sym typeface="Poppins Bold"/>
              </a:rPr>
              <a:t>Thank You</a:t>
            </a:r>
          </a:p>
        </p:txBody>
      </p:sp>
      <p:sp>
        <p:nvSpPr>
          <p:cNvPr name="Freeform 3" id="3"/>
          <p:cNvSpPr/>
          <p:nvPr/>
        </p:nvSpPr>
        <p:spPr>
          <a:xfrm flipH="false" flipV="false" rot="0">
            <a:off x="7866326" y="1457644"/>
            <a:ext cx="2555348" cy="2847185"/>
          </a:xfrm>
          <a:custGeom>
            <a:avLst/>
            <a:gdLst/>
            <a:ahLst/>
            <a:cxnLst/>
            <a:rect r="r" b="b" t="t" l="l"/>
            <a:pathLst>
              <a:path h="2847185" w="2555348">
                <a:moveTo>
                  <a:pt x="0" y="0"/>
                </a:moveTo>
                <a:lnTo>
                  <a:pt x="2555348" y="0"/>
                </a:lnTo>
                <a:lnTo>
                  <a:pt x="2555348" y="2847185"/>
                </a:lnTo>
                <a:lnTo>
                  <a:pt x="0" y="284718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6510474" y="4505681"/>
            <a:ext cx="5267052" cy="9078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544"/>
              </a:lnSpc>
              <a:spcBef>
                <a:spcPct val="0"/>
              </a:spcBef>
            </a:pPr>
            <a:r>
              <a:rPr lang="en-US" b="true" sz="5389">
                <a:solidFill>
                  <a:srgbClr val="388E3C"/>
                </a:solidFill>
                <a:latin typeface="Gotham Bold"/>
                <a:ea typeface="Gotham Bold"/>
                <a:cs typeface="Gotham Bold"/>
                <a:sym typeface="Gotham Bold"/>
              </a:rPr>
              <a:t>Haat Baran</a:t>
            </a:r>
          </a:p>
        </p:txBody>
      </p:sp>
    </p:spTree>
  </p:cSld>
  <p:clrMapOvr>
    <a:masterClrMapping/>
  </p:clrMapOvr>
  <p:transition spd="fast">
    <p:circl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DAG1gOdf2ks</dc:identifier>
  <dcterms:modified xsi:type="dcterms:W3CDTF">2011-08-01T06:04:30Z</dcterms:modified>
  <cp:revision>1</cp:revision>
  <dc:title>Haat Baran SRS</dc:title>
</cp:coreProperties>
</file>