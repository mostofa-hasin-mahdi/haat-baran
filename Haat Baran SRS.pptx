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ns" charset="1" panose="00000000000000000000"/>
      <p:regular r:id="rId12"/>
    </p:embeddedFont>
    <p:embeddedFont>
      <p:font typeface="Gotham Bold" charset="1" panose="00000000000000000000"/>
      <p:regular r:id="rId13"/>
    </p:embeddedFont>
    <p:embeddedFont>
      <p:font typeface="Poppins Bold" charset="1" panose="00000800000000000000"/>
      <p:regular r:id="rId14"/>
    </p:embeddedFont>
    <p:embeddedFont>
      <p:font typeface="Agrandir" charset="1" panose="00000500000000000000"/>
      <p:regular r:id="rId15"/>
    </p:embeddedFont>
    <p:embeddedFont>
      <p:font typeface="Agrandir Bold" charset="1" panose="00000800000000000000"/>
      <p:regular r:id="rId16"/>
    </p:embeddedFont>
    <p:embeddedFont>
      <p:font typeface="Telegraf Bold" charset="1" panose="00000800000000000000"/>
      <p:regular r:id="rId17"/>
    </p:embeddedFont>
    <p:embeddedFont>
      <p:font typeface="Touvlo" charset="1" panose="020B0604030403020204"/>
      <p:regular r:id="rId18"/>
    </p:embeddedFont>
    <p:embeddedFont>
      <p:font typeface="Touvlo Bold" charset="1" panose="020B0804030403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88E3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88E3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335AC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770404" y="657737"/>
            <a:ext cx="7246397" cy="7246397"/>
          </a:xfrm>
          <a:custGeom>
            <a:avLst/>
            <a:gdLst/>
            <a:ahLst/>
            <a:cxnLst/>
            <a:rect r="r" b="b" t="t" l="l"/>
            <a:pathLst>
              <a:path h="7246397" w="7246397">
                <a:moveTo>
                  <a:pt x="0" y="0"/>
                </a:moveTo>
                <a:lnTo>
                  <a:pt x="7246397" y="0"/>
                </a:lnTo>
                <a:lnTo>
                  <a:pt x="7246397" y="7246398"/>
                </a:lnTo>
                <a:lnTo>
                  <a:pt x="0" y="7246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078309" y="657737"/>
            <a:ext cx="7246397" cy="7246397"/>
          </a:xfrm>
          <a:custGeom>
            <a:avLst/>
            <a:gdLst/>
            <a:ahLst/>
            <a:cxnLst/>
            <a:rect r="r" b="b" t="t" l="l"/>
            <a:pathLst>
              <a:path h="7246397" w="7246397">
                <a:moveTo>
                  <a:pt x="0" y="0"/>
                </a:moveTo>
                <a:lnTo>
                  <a:pt x="7246398" y="0"/>
                </a:lnTo>
                <a:lnTo>
                  <a:pt x="7246398" y="7246398"/>
                </a:lnTo>
                <a:lnTo>
                  <a:pt x="0" y="7246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86778" y="2006712"/>
            <a:ext cx="7676774" cy="4211784"/>
            <a:chOff x="0" y="0"/>
            <a:chExt cx="1052050" cy="5771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50424" y="0"/>
                  </a:moveTo>
                  <a:lnTo>
                    <a:pt x="1001626" y="0"/>
                  </a:lnTo>
                  <a:cubicBezTo>
                    <a:pt x="1029475" y="0"/>
                    <a:pt x="1052050" y="22576"/>
                    <a:pt x="1052050" y="50424"/>
                  </a:cubicBezTo>
                  <a:lnTo>
                    <a:pt x="1052050" y="526772"/>
                  </a:lnTo>
                  <a:cubicBezTo>
                    <a:pt x="1052050" y="554621"/>
                    <a:pt x="1029475" y="577197"/>
                    <a:pt x="1001626" y="577197"/>
                  </a:cubicBezTo>
                  <a:lnTo>
                    <a:pt x="50424" y="577197"/>
                  </a:lnTo>
                  <a:cubicBezTo>
                    <a:pt x="22576" y="577197"/>
                    <a:pt x="0" y="554621"/>
                    <a:pt x="0" y="526772"/>
                  </a:cubicBezTo>
                  <a:lnTo>
                    <a:pt x="0" y="50424"/>
                  </a:lnTo>
                  <a:cubicBezTo>
                    <a:pt x="0" y="22576"/>
                    <a:pt x="22576" y="0"/>
                    <a:pt x="504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Photo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985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3247956" y="2278609"/>
            <a:ext cx="2351795" cy="2620384"/>
          </a:xfrm>
          <a:custGeom>
            <a:avLst/>
            <a:gdLst/>
            <a:ahLst/>
            <a:cxnLst/>
            <a:rect r="r" b="b" t="t" l="l"/>
            <a:pathLst>
              <a:path h="2620384" w="2351795">
                <a:moveTo>
                  <a:pt x="0" y="0"/>
                </a:moveTo>
                <a:lnTo>
                  <a:pt x="2351795" y="0"/>
                </a:lnTo>
                <a:lnTo>
                  <a:pt x="2351795" y="2620384"/>
                </a:lnTo>
                <a:lnTo>
                  <a:pt x="0" y="26203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000109" y="5084266"/>
            <a:ext cx="4847490" cy="83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3"/>
              </a:lnSpc>
              <a:spcBef>
                <a:spcPct val="0"/>
              </a:spcBef>
            </a:pPr>
            <a:r>
              <a:rPr lang="en-US" b="true" sz="4959">
                <a:solidFill>
                  <a:srgbClr val="388E3C"/>
                </a:solidFill>
                <a:latin typeface="Gotham Bold"/>
                <a:ea typeface="Gotham Bold"/>
                <a:cs typeface="Gotham Bold"/>
                <a:sym typeface="Gotham Bold"/>
              </a:rPr>
              <a:t>Haat Baran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58044" y="2301940"/>
            <a:ext cx="4982921" cy="208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Software</a:t>
            </a:r>
          </a:p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Requirement</a:t>
            </a:r>
          </a:p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58044" y="6985908"/>
            <a:ext cx="4328653" cy="286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F2020"/>
                </a:solidFill>
                <a:latin typeface="Agrandir"/>
                <a:ea typeface="Agrandir"/>
                <a:cs typeface="Agrandir"/>
                <a:sym typeface="Agrandir"/>
              </a:rPr>
              <a:t>Presented By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F2020"/>
                </a:solidFill>
                <a:latin typeface="Agrandir"/>
                <a:ea typeface="Agrandir"/>
                <a:cs typeface="Agrandir"/>
                <a:sym typeface="Agrandir"/>
              </a:rPr>
              <a:t>Mostofa Hasin Mahdi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F2020"/>
                </a:solidFill>
                <a:latin typeface="Agrandir"/>
                <a:ea typeface="Agrandir"/>
                <a:cs typeface="Agrandir"/>
                <a:sym typeface="Agrandir"/>
              </a:rPr>
              <a:t>223071109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F2020"/>
                </a:solidFill>
                <a:latin typeface="Agrandir"/>
                <a:ea typeface="Agrandir"/>
                <a:cs typeface="Agrandir"/>
                <a:sym typeface="Agrandir"/>
              </a:rPr>
              <a:t>Talal Sharar Apurbo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F2020"/>
                </a:solidFill>
                <a:latin typeface="Agrandir"/>
                <a:ea typeface="Agrandir"/>
                <a:cs typeface="Agrandir"/>
                <a:sym typeface="Agrandir"/>
              </a:rPr>
              <a:t>223071108</a:t>
            </a:r>
          </a:p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F2020"/>
                </a:solidFill>
                <a:latin typeface="Agrandir"/>
                <a:ea typeface="Agrandir"/>
                <a:cs typeface="Agrandir"/>
                <a:sym typeface="Agrandir"/>
              </a:rPr>
              <a:t>31</a:t>
            </a:r>
            <a:r>
              <a:rPr lang="en-US" sz="1300">
                <a:solidFill>
                  <a:srgbClr val="1F2020"/>
                </a:solidFill>
                <a:latin typeface="Agrandir"/>
                <a:ea typeface="Agrandir"/>
                <a:cs typeface="Agrandir"/>
                <a:sym typeface="Agrandir"/>
              </a:rPr>
              <a:t>st</a:t>
            </a:r>
            <a:r>
              <a:rPr lang="en-US" sz="1300">
                <a:solidFill>
                  <a:srgbClr val="1F2020"/>
                </a:solidFill>
                <a:latin typeface="Agrandir"/>
                <a:ea typeface="Agrandir"/>
                <a:cs typeface="Agrandir"/>
                <a:sym typeface="Agrandir"/>
              </a:rPr>
              <a:t> Batch, Group - (A)</a:t>
            </a:r>
          </a:p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1F2020"/>
                </a:solidFill>
                <a:latin typeface="Agrandir"/>
                <a:ea typeface="Agrandir"/>
                <a:cs typeface="Agrandir"/>
                <a:sym typeface="Agrandir"/>
              </a:rPr>
              <a:t>Dept. of CSE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0674" y="1028700"/>
            <a:ext cx="851827" cy="949111"/>
          </a:xfrm>
          <a:custGeom>
            <a:avLst/>
            <a:gdLst/>
            <a:ahLst/>
            <a:cxnLst/>
            <a:rect r="r" b="b" t="t" l="l"/>
            <a:pathLst>
              <a:path h="949111" w="851827">
                <a:moveTo>
                  <a:pt x="0" y="0"/>
                </a:moveTo>
                <a:lnTo>
                  <a:pt x="851827" y="0"/>
                </a:lnTo>
                <a:lnTo>
                  <a:pt x="851827" y="949111"/>
                </a:lnTo>
                <a:lnTo>
                  <a:pt x="0" y="9491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69674" y="1028700"/>
            <a:ext cx="3089626" cy="3239451"/>
          </a:xfrm>
          <a:custGeom>
            <a:avLst/>
            <a:gdLst/>
            <a:ahLst/>
            <a:cxnLst/>
            <a:rect r="r" b="b" t="t" l="l"/>
            <a:pathLst>
              <a:path h="3239451" w="3089626">
                <a:moveTo>
                  <a:pt x="0" y="0"/>
                </a:moveTo>
                <a:lnTo>
                  <a:pt x="3089626" y="0"/>
                </a:lnTo>
                <a:lnTo>
                  <a:pt x="3089626" y="3239451"/>
                </a:lnTo>
                <a:lnTo>
                  <a:pt x="0" y="32394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35950" y="4804414"/>
            <a:ext cx="4366980" cy="4366980"/>
          </a:xfrm>
          <a:custGeom>
            <a:avLst/>
            <a:gdLst/>
            <a:ahLst/>
            <a:cxnLst/>
            <a:rect r="r" b="b" t="t" l="l"/>
            <a:pathLst>
              <a:path h="4366980" w="4366980">
                <a:moveTo>
                  <a:pt x="0" y="0"/>
                </a:moveTo>
                <a:lnTo>
                  <a:pt x="4366980" y="0"/>
                </a:lnTo>
                <a:lnTo>
                  <a:pt x="4366980" y="4366980"/>
                </a:lnTo>
                <a:lnTo>
                  <a:pt x="0" y="436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1999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60255" y="5206611"/>
            <a:ext cx="15463804" cy="3562587"/>
            <a:chOff x="0" y="0"/>
            <a:chExt cx="4072771" cy="9382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72772" cy="938294"/>
            </a:xfrm>
            <a:custGeom>
              <a:avLst/>
              <a:gdLst/>
              <a:ahLst/>
              <a:cxnLst/>
              <a:rect r="r" b="b" t="t" l="l"/>
              <a:pathLst>
                <a:path h="938294" w="4072772">
                  <a:moveTo>
                    <a:pt x="35045" y="0"/>
                  </a:moveTo>
                  <a:lnTo>
                    <a:pt x="4037726" y="0"/>
                  </a:lnTo>
                  <a:cubicBezTo>
                    <a:pt x="4047021" y="0"/>
                    <a:pt x="4055935" y="3692"/>
                    <a:pt x="4062507" y="10265"/>
                  </a:cubicBezTo>
                  <a:cubicBezTo>
                    <a:pt x="4069079" y="16837"/>
                    <a:pt x="4072772" y="25751"/>
                    <a:pt x="4072772" y="35045"/>
                  </a:cubicBezTo>
                  <a:lnTo>
                    <a:pt x="4072772" y="903249"/>
                  </a:lnTo>
                  <a:cubicBezTo>
                    <a:pt x="4072772" y="922604"/>
                    <a:pt x="4057081" y="938294"/>
                    <a:pt x="4037726" y="938294"/>
                  </a:cubicBezTo>
                  <a:lnTo>
                    <a:pt x="35045" y="938294"/>
                  </a:lnTo>
                  <a:cubicBezTo>
                    <a:pt x="15690" y="938294"/>
                    <a:pt x="0" y="922604"/>
                    <a:pt x="0" y="903249"/>
                  </a:cubicBezTo>
                  <a:lnTo>
                    <a:pt x="0" y="35045"/>
                  </a:lnTo>
                  <a:cubicBezTo>
                    <a:pt x="0" y="15690"/>
                    <a:pt x="15690" y="0"/>
                    <a:pt x="35045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72771" cy="9763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5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11651" y="6097630"/>
            <a:ext cx="1020850" cy="1794901"/>
          </a:xfrm>
          <a:custGeom>
            <a:avLst/>
            <a:gdLst/>
            <a:ahLst/>
            <a:cxnLst/>
            <a:rect r="r" b="b" t="t" l="l"/>
            <a:pathLst>
              <a:path h="1794901" w="1020850">
                <a:moveTo>
                  <a:pt x="0" y="0"/>
                </a:moveTo>
                <a:lnTo>
                  <a:pt x="1020850" y="0"/>
                </a:lnTo>
                <a:lnTo>
                  <a:pt x="1020850" y="1794900"/>
                </a:lnTo>
                <a:lnTo>
                  <a:pt x="0" y="17949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01524" y="6171026"/>
            <a:ext cx="2999476" cy="2037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For </a:t>
            </a:r>
            <a:r>
              <a:rPr lang="en-US" sz="189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trained field workers to visit applicants, collect their details, photos, and location, and submit this information to the central system.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5500999" y="5222612"/>
            <a:ext cx="0" cy="3546585"/>
          </a:xfrm>
          <a:prstGeom prst="line">
            <a:avLst/>
          </a:prstGeom>
          <a:ln cap="flat" w="7620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10447971" y="5222612"/>
            <a:ext cx="69450" cy="3467697"/>
          </a:xfrm>
          <a:prstGeom prst="line">
            <a:avLst/>
          </a:prstGeom>
          <a:ln cap="flat" w="7620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0956431" y="5945337"/>
            <a:ext cx="1708069" cy="1952079"/>
          </a:xfrm>
          <a:custGeom>
            <a:avLst/>
            <a:gdLst/>
            <a:ahLst/>
            <a:cxnLst/>
            <a:rect r="r" b="b" t="t" l="l"/>
            <a:pathLst>
              <a:path h="1952079" w="1708069">
                <a:moveTo>
                  <a:pt x="0" y="0"/>
                </a:moveTo>
                <a:lnTo>
                  <a:pt x="1708069" y="0"/>
                </a:lnTo>
                <a:lnTo>
                  <a:pt x="1708069" y="1952079"/>
                </a:lnTo>
                <a:lnTo>
                  <a:pt x="0" y="19520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68437" y="8051651"/>
            <a:ext cx="594936" cy="59493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8E3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5"/>
                </a:lnSpc>
              </a:pPr>
              <a:r>
                <a:rPr lang="en-US" b="true" sz="1796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415226" y="6171026"/>
            <a:ext cx="2999476" cy="237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Des</a:t>
            </a:r>
            <a:r>
              <a:rPr lang="en-US" sz="189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igned for donors to view verified profiles of applicants, check their background and business goals, and securely contribute funds using digital payment gateways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044767"/>
            <a:ext cx="1755775" cy="302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5"/>
              </a:lnSpc>
              <a:spcBef>
                <a:spcPct val="0"/>
              </a:spcBef>
            </a:pPr>
            <a:r>
              <a:rPr lang="en-US" b="true" sz="1796">
                <a:solidFill>
                  <a:srgbClr val="388E3C"/>
                </a:solidFill>
                <a:latin typeface="Gotham Bold"/>
                <a:ea typeface="Gotham Bold"/>
                <a:cs typeface="Gotham Bold"/>
                <a:sym typeface="Gotham Bold"/>
              </a:rPr>
              <a:t>Haat Baran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2794062"/>
            <a:ext cx="11314287" cy="170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Software Requirement Specification (SRS) describes the requirements for the Haat Baran project , a digital funding and verification platform for underprivileged individuals seeking startup capital to begin small businesses.</a:t>
            </a:r>
          </a:p>
          <a:p>
            <a:pPr algn="just">
              <a:lnSpc>
                <a:spcPts val="2655"/>
              </a:lnSpc>
              <a:spcBef>
                <a:spcPct val="0"/>
              </a:spcBef>
            </a:pPr>
          </a:p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Haat Baran will consist of three primary interfaces: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22781" y="1369797"/>
            <a:ext cx="4042438" cy="98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Introduction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97912" y="5604145"/>
            <a:ext cx="2406700" cy="493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5"/>
              </a:lnSpc>
              <a:spcBef>
                <a:spcPct val="0"/>
              </a:spcBef>
            </a:pPr>
            <a:r>
              <a:rPr lang="en-US" b="true" sz="269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Volunteer App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34301" y="5604145"/>
            <a:ext cx="2099072" cy="493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5"/>
              </a:lnSpc>
              <a:spcBef>
                <a:spcPct val="0"/>
              </a:spcBef>
            </a:pPr>
            <a:r>
              <a:rPr lang="en-US" b="true" sz="269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Donor Portal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64500" y="5604145"/>
            <a:ext cx="3010346" cy="493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5"/>
              </a:lnSpc>
              <a:spcBef>
                <a:spcPct val="0"/>
              </a:spcBef>
            </a:pPr>
            <a:r>
              <a:rPr lang="en-US" b="true" sz="269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Admin Dashboard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06600" y="6171026"/>
            <a:ext cx="2526147" cy="237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 web bas</a:t>
            </a:r>
            <a:r>
              <a:rPr lang="en-US" sz="189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ed control panel for approving applicants, monitoring funding flow, generating reports, and ensuring transparency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782893" y="8051651"/>
            <a:ext cx="610566" cy="610566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8E3C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5"/>
                </a:lnSpc>
              </a:pPr>
              <a:r>
                <a:rPr lang="en-US" b="true" sz="1796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956431" y="8036022"/>
            <a:ext cx="610566" cy="610566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8E3C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5"/>
                </a:lnSpc>
              </a:pPr>
              <a:r>
                <a:rPr lang="en-US" b="true" sz="1796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3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0674" y="1028700"/>
            <a:ext cx="851827" cy="949111"/>
          </a:xfrm>
          <a:custGeom>
            <a:avLst/>
            <a:gdLst/>
            <a:ahLst/>
            <a:cxnLst/>
            <a:rect r="r" b="b" t="t" l="l"/>
            <a:pathLst>
              <a:path h="949111" w="851827">
                <a:moveTo>
                  <a:pt x="0" y="0"/>
                </a:moveTo>
                <a:lnTo>
                  <a:pt x="851827" y="0"/>
                </a:lnTo>
                <a:lnTo>
                  <a:pt x="851827" y="949111"/>
                </a:lnTo>
                <a:lnTo>
                  <a:pt x="0" y="9491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044767"/>
            <a:ext cx="1755775" cy="302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5"/>
              </a:lnSpc>
              <a:spcBef>
                <a:spcPct val="0"/>
              </a:spcBef>
            </a:pPr>
            <a:r>
              <a:rPr lang="en-US" b="true" sz="1796">
                <a:solidFill>
                  <a:srgbClr val="388E3C"/>
                </a:solidFill>
                <a:latin typeface="Gotham Bold"/>
                <a:ea typeface="Gotham Bold"/>
                <a:cs typeface="Gotham Bold"/>
                <a:sym typeface="Gotham Bold"/>
              </a:rPr>
              <a:t>Haat Baran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26461" y="1359959"/>
            <a:ext cx="6835078" cy="98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System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856558"/>
            <a:ext cx="11469439" cy="370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The Haat Baran system is built on a client-server architecture, structured around three core modules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095233" y="3384797"/>
            <a:ext cx="1870026" cy="1799687"/>
            <a:chOff x="0" y="0"/>
            <a:chExt cx="2493368" cy="239958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361172" cy="2399583"/>
              <a:chOff x="0" y="0"/>
              <a:chExt cx="568185" cy="57742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68185" cy="577428"/>
              </a:xfrm>
              <a:custGeom>
                <a:avLst/>
                <a:gdLst/>
                <a:ahLst/>
                <a:cxnLst/>
                <a:rect r="r" b="b" t="t" l="l"/>
                <a:pathLst>
                  <a:path h="577428" w="568185">
                    <a:moveTo>
                      <a:pt x="190443" y="0"/>
                    </a:moveTo>
                    <a:lnTo>
                      <a:pt x="377742" y="0"/>
                    </a:lnTo>
                    <a:cubicBezTo>
                      <a:pt x="482921" y="0"/>
                      <a:pt x="568185" y="85264"/>
                      <a:pt x="568185" y="190443"/>
                    </a:cubicBezTo>
                    <a:lnTo>
                      <a:pt x="568185" y="386985"/>
                    </a:lnTo>
                    <a:cubicBezTo>
                      <a:pt x="568185" y="437494"/>
                      <a:pt x="548120" y="485933"/>
                      <a:pt x="512405" y="521648"/>
                    </a:cubicBezTo>
                    <a:cubicBezTo>
                      <a:pt x="476690" y="557363"/>
                      <a:pt x="428250" y="577428"/>
                      <a:pt x="377742" y="577428"/>
                    </a:cubicBezTo>
                    <a:lnTo>
                      <a:pt x="190443" y="577428"/>
                    </a:lnTo>
                    <a:cubicBezTo>
                      <a:pt x="139934" y="577428"/>
                      <a:pt x="91494" y="557363"/>
                      <a:pt x="55779" y="521648"/>
                    </a:cubicBezTo>
                    <a:cubicBezTo>
                      <a:pt x="20064" y="485933"/>
                      <a:pt x="0" y="437494"/>
                      <a:pt x="0" y="386985"/>
                    </a:cubicBezTo>
                    <a:lnTo>
                      <a:pt x="0" y="190443"/>
                    </a:lnTo>
                    <a:cubicBezTo>
                      <a:pt x="0" y="139934"/>
                      <a:pt x="20064" y="91494"/>
                      <a:pt x="55779" y="55779"/>
                    </a:cubicBezTo>
                    <a:cubicBezTo>
                      <a:pt x="91494" y="20064"/>
                      <a:pt x="139934" y="0"/>
                      <a:pt x="190443" y="0"/>
                    </a:cubicBezTo>
                    <a:close/>
                  </a:path>
                </a:pathLst>
              </a:custGeom>
              <a:solidFill>
                <a:srgbClr val="1E89D5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568185" cy="606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32196" y="0"/>
              <a:ext cx="2361172" cy="2399583"/>
              <a:chOff x="0" y="0"/>
              <a:chExt cx="568185" cy="57742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68185" cy="577428"/>
              </a:xfrm>
              <a:custGeom>
                <a:avLst/>
                <a:gdLst/>
                <a:ahLst/>
                <a:cxnLst/>
                <a:rect r="r" b="b" t="t" l="l"/>
                <a:pathLst>
                  <a:path h="577428" w="568185">
                    <a:moveTo>
                      <a:pt x="190443" y="0"/>
                    </a:moveTo>
                    <a:lnTo>
                      <a:pt x="377742" y="0"/>
                    </a:lnTo>
                    <a:cubicBezTo>
                      <a:pt x="482921" y="0"/>
                      <a:pt x="568185" y="85264"/>
                      <a:pt x="568185" y="190443"/>
                    </a:cubicBezTo>
                    <a:lnTo>
                      <a:pt x="568185" y="386985"/>
                    </a:lnTo>
                    <a:cubicBezTo>
                      <a:pt x="568185" y="437494"/>
                      <a:pt x="548120" y="485933"/>
                      <a:pt x="512405" y="521648"/>
                    </a:cubicBezTo>
                    <a:cubicBezTo>
                      <a:pt x="476690" y="557363"/>
                      <a:pt x="428250" y="577428"/>
                      <a:pt x="377742" y="577428"/>
                    </a:cubicBezTo>
                    <a:lnTo>
                      <a:pt x="190443" y="577428"/>
                    </a:lnTo>
                    <a:cubicBezTo>
                      <a:pt x="139934" y="577428"/>
                      <a:pt x="91494" y="557363"/>
                      <a:pt x="55779" y="521648"/>
                    </a:cubicBezTo>
                    <a:cubicBezTo>
                      <a:pt x="20064" y="485933"/>
                      <a:pt x="0" y="437494"/>
                      <a:pt x="0" y="386985"/>
                    </a:cubicBezTo>
                    <a:lnTo>
                      <a:pt x="0" y="190443"/>
                    </a:lnTo>
                    <a:cubicBezTo>
                      <a:pt x="0" y="139934"/>
                      <a:pt x="20064" y="91494"/>
                      <a:pt x="55779" y="55779"/>
                    </a:cubicBezTo>
                    <a:cubicBezTo>
                      <a:pt x="91494" y="20064"/>
                      <a:pt x="139934" y="0"/>
                      <a:pt x="1904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568185" cy="606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5486340" y="3634975"/>
            <a:ext cx="1186960" cy="1186960"/>
          </a:xfrm>
          <a:custGeom>
            <a:avLst/>
            <a:gdLst/>
            <a:ahLst/>
            <a:cxnLst/>
            <a:rect r="r" b="b" t="t" l="l"/>
            <a:pathLst>
              <a:path h="1186960" w="1186960">
                <a:moveTo>
                  <a:pt x="0" y="0"/>
                </a:moveTo>
                <a:lnTo>
                  <a:pt x="1186960" y="0"/>
                </a:lnTo>
                <a:lnTo>
                  <a:pt x="1186960" y="1186959"/>
                </a:lnTo>
                <a:lnTo>
                  <a:pt x="0" y="11869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5095233" y="7859615"/>
            <a:ext cx="1897478" cy="1826106"/>
            <a:chOff x="0" y="0"/>
            <a:chExt cx="2529970" cy="2434808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395833" cy="2434808"/>
              <a:chOff x="0" y="0"/>
              <a:chExt cx="568185" cy="57742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68185" cy="577428"/>
              </a:xfrm>
              <a:custGeom>
                <a:avLst/>
                <a:gdLst/>
                <a:ahLst/>
                <a:cxnLst/>
                <a:rect r="r" b="b" t="t" l="l"/>
                <a:pathLst>
                  <a:path h="577428" w="568185">
                    <a:moveTo>
                      <a:pt x="257646" y="0"/>
                    </a:moveTo>
                    <a:lnTo>
                      <a:pt x="310539" y="0"/>
                    </a:lnTo>
                    <a:cubicBezTo>
                      <a:pt x="452833" y="0"/>
                      <a:pt x="568185" y="115352"/>
                      <a:pt x="568185" y="257646"/>
                    </a:cubicBezTo>
                    <a:lnTo>
                      <a:pt x="568185" y="319782"/>
                    </a:lnTo>
                    <a:cubicBezTo>
                      <a:pt x="568185" y="462076"/>
                      <a:pt x="452833" y="577428"/>
                      <a:pt x="310539" y="577428"/>
                    </a:cubicBezTo>
                    <a:lnTo>
                      <a:pt x="257646" y="577428"/>
                    </a:lnTo>
                    <a:cubicBezTo>
                      <a:pt x="115352" y="577428"/>
                      <a:pt x="0" y="462076"/>
                      <a:pt x="0" y="319782"/>
                    </a:cubicBezTo>
                    <a:lnTo>
                      <a:pt x="0" y="257646"/>
                    </a:lnTo>
                    <a:cubicBezTo>
                      <a:pt x="0" y="115352"/>
                      <a:pt x="115352" y="0"/>
                      <a:pt x="257646" y="0"/>
                    </a:cubicBezTo>
                    <a:close/>
                  </a:path>
                </a:pathLst>
              </a:custGeom>
              <a:solidFill>
                <a:srgbClr val="CB6CE6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568185" cy="606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34137" y="0"/>
              <a:ext cx="2395833" cy="2434808"/>
              <a:chOff x="0" y="0"/>
              <a:chExt cx="568185" cy="57742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568185" cy="577428"/>
              </a:xfrm>
              <a:custGeom>
                <a:avLst/>
                <a:gdLst/>
                <a:ahLst/>
                <a:cxnLst/>
                <a:rect r="r" b="b" t="t" l="l"/>
                <a:pathLst>
                  <a:path h="577428" w="568185">
                    <a:moveTo>
                      <a:pt x="257646" y="0"/>
                    </a:moveTo>
                    <a:lnTo>
                      <a:pt x="310539" y="0"/>
                    </a:lnTo>
                    <a:cubicBezTo>
                      <a:pt x="452833" y="0"/>
                      <a:pt x="568185" y="115352"/>
                      <a:pt x="568185" y="257646"/>
                    </a:cubicBezTo>
                    <a:lnTo>
                      <a:pt x="568185" y="319782"/>
                    </a:lnTo>
                    <a:cubicBezTo>
                      <a:pt x="568185" y="462076"/>
                      <a:pt x="452833" y="577428"/>
                      <a:pt x="310539" y="577428"/>
                    </a:cubicBezTo>
                    <a:lnTo>
                      <a:pt x="257646" y="577428"/>
                    </a:lnTo>
                    <a:cubicBezTo>
                      <a:pt x="115352" y="577428"/>
                      <a:pt x="0" y="462076"/>
                      <a:pt x="0" y="319782"/>
                    </a:cubicBezTo>
                    <a:lnTo>
                      <a:pt x="0" y="257646"/>
                    </a:lnTo>
                    <a:cubicBezTo>
                      <a:pt x="0" y="115352"/>
                      <a:pt x="115352" y="0"/>
                      <a:pt x="2576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568185" cy="606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</p:grpSp>
      <p:sp>
        <p:nvSpPr>
          <p:cNvPr name="Freeform 21" id="21"/>
          <p:cNvSpPr/>
          <p:nvPr/>
        </p:nvSpPr>
        <p:spPr>
          <a:xfrm flipH="false" flipV="false" rot="0">
            <a:off x="5492082" y="8170477"/>
            <a:ext cx="1204384" cy="1204384"/>
          </a:xfrm>
          <a:custGeom>
            <a:avLst/>
            <a:gdLst/>
            <a:ahLst/>
            <a:cxnLst/>
            <a:rect r="r" b="b" t="t" l="l"/>
            <a:pathLst>
              <a:path h="1204384" w="1204384">
                <a:moveTo>
                  <a:pt x="0" y="0"/>
                </a:moveTo>
                <a:lnTo>
                  <a:pt x="1204383" y="0"/>
                </a:lnTo>
                <a:lnTo>
                  <a:pt x="1204383" y="1204383"/>
                </a:lnTo>
                <a:lnTo>
                  <a:pt x="0" y="12043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331347" y="5524356"/>
            <a:ext cx="2073376" cy="1995388"/>
            <a:chOff x="0" y="0"/>
            <a:chExt cx="2764502" cy="266051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2617930" cy="2660518"/>
              <a:chOff x="0" y="0"/>
              <a:chExt cx="568185" cy="577428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68185" cy="577428"/>
              </a:xfrm>
              <a:custGeom>
                <a:avLst/>
                <a:gdLst/>
                <a:ahLst/>
                <a:cxnLst/>
                <a:rect r="r" b="b" t="t" l="l"/>
                <a:pathLst>
                  <a:path h="577428" w="568185">
                    <a:moveTo>
                      <a:pt x="235788" y="0"/>
                    </a:moveTo>
                    <a:lnTo>
                      <a:pt x="332397" y="0"/>
                    </a:lnTo>
                    <a:cubicBezTo>
                      <a:pt x="462619" y="0"/>
                      <a:pt x="568185" y="105566"/>
                      <a:pt x="568185" y="235788"/>
                    </a:cubicBezTo>
                    <a:lnTo>
                      <a:pt x="568185" y="341640"/>
                    </a:lnTo>
                    <a:cubicBezTo>
                      <a:pt x="568185" y="404175"/>
                      <a:pt x="543343" y="464148"/>
                      <a:pt x="499124" y="508367"/>
                    </a:cubicBezTo>
                    <a:cubicBezTo>
                      <a:pt x="454905" y="552586"/>
                      <a:pt x="394932" y="577428"/>
                      <a:pt x="332397" y="577428"/>
                    </a:cubicBezTo>
                    <a:lnTo>
                      <a:pt x="235788" y="577428"/>
                    </a:lnTo>
                    <a:cubicBezTo>
                      <a:pt x="105566" y="577428"/>
                      <a:pt x="0" y="471862"/>
                      <a:pt x="0" y="341640"/>
                    </a:cubicBezTo>
                    <a:lnTo>
                      <a:pt x="0" y="235788"/>
                    </a:lnTo>
                    <a:cubicBezTo>
                      <a:pt x="0" y="105566"/>
                      <a:pt x="105566" y="0"/>
                      <a:pt x="235788" y="0"/>
                    </a:cubicBezTo>
                    <a:close/>
                  </a:path>
                </a:pathLst>
              </a:custGeom>
              <a:solidFill>
                <a:srgbClr val="064D6D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28575"/>
                <a:ext cx="568185" cy="606003"/>
              </a:xfrm>
              <a:prstGeom prst="rect">
                <a:avLst/>
              </a:prstGeom>
            </p:spPr>
            <p:txBody>
              <a:bodyPr anchor="ctr" rtlCol="false" tIns="55509" lIns="55509" bIns="55509" rIns="55509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46572" y="0"/>
              <a:ext cx="2617930" cy="2660518"/>
              <a:chOff x="0" y="0"/>
              <a:chExt cx="568185" cy="57742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68185" cy="577428"/>
              </a:xfrm>
              <a:custGeom>
                <a:avLst/>
                <a:gdLst/>
                <a:ahLst/>
                <a:cxnLst/>
                <a:rect r="r" b="b" t="t" l="l"/>
                <a:pathLst>
                  <a:path h="577428" w="568185">
                    <a:moveTo>
                      <a:pt x="235788" y="0"/>
                    </a:moveTo>
                    <a:lnTo>
                      <a:pt x="332397" y="0"/>
                    </a:lnTo>
                    <a:cubicBezTo>
                      <a:pt x="462619" y="0"/>
                      <a:pt x="568185" y="105566"/>
                      <a:pt x="568185" y="235788"/>
                    </a:cubicBezTo>
                    <a:lnTo>
                      <a:pt x="568185" y="341640"/>
                    </a:lnTo>
                    <a:cubicBezTo>
                      <a:pt x="568185" y="404175"/>
                      <a:pt x="543343" y="464148"/>
                      <a:pt x="499124" y="508367"/>
                    </a:cubicBezTo>
                    <a:cubicBezTo>
                      <a:pt x="454905" y="552586"/>
                      <a:pt x="394932" y="577428"/>
                      <a:pt x="332397" y="577428"/>
                    </a:cubicBezTo>
                    <a:lnTo>
                      <a:pt x="235788" y="577428"/>
                    </a:lnTo>
                    <a:cubicBezTo>
                      <a:pt x="105566" y="577428"/>
                      <a:pt x="0" y="471862"/>
                      <a:pt x="0" y="341640"/>
                    </a:cubicBezTo>
                    <a:lnTo>
                      <a:pt x="0" y="235788"/>
                    </a:lnTo>
                    <a:cubicBezTo>
                      <a:pt x="0" y="105566"/>
                      <a:pt x="105566" y="0"/>
                      <a:pt x="23578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28575"/>
                <a:ext cx="568185" cy="606003"/>
              </a:xfrm>
              <a:prstGeom prst="rect">
                <a:avLst/>
              </a:prstGeom>
            </p:spPr>
            <p:txBody>
              <a:bodyPr anchor="ctr" rtlCol="false" tIns="55509" lIns="55509" bIns="55509" rIns="55509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</p:grpSp>
      <p:sp>
        <p:nvSpPr>
          <p:cNvPr name="Freeform 29" id="29"/>
          <p:cNvSpPr/>
          <p:nvPr/>
        </p:nvSpPr>
        <p:spPr>
          <a:xfrm flipH="false" flipV="false" rot="0">
            <a:off x="8753166" y="5845572"/>
            <a:ext cx="1349348" cy="1352956"/>
          </a:xfrm>
          <a:custGeom>
            <a:avLst/>
            <a:gdLst/>
            <a:ahLst/>
            <a:cxnLst/>
            <a:rect r="r" b="b" t="t" l="l"/>
            <a:pathLst>
              <a:path h="1352956" w="1349348">
                <a:moveTo>
                  <a:pt x="0" y="0"/>
                </a:moveTo>
                <a:lnTo>
                  <a:pt x="1349347" y="0"/>
                </a:lnTo>
                <a:lnTo>
                  <a:pt x="1349347" y="1352956"/>
                </a:lnTo>
                <a:lnTo>
                  <a:pt x="0" y="13529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8419296" y="3384797"/>
            <a:ext cx="1897478" cy="1826106"/>
            <a:chOff x="0" y="0"/>
            <a:chExt cx="2529970" cy="2434808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2395833" cy="2434808"/>
              <a:chOff x="0" y="0"/>
              <a:chExt cx="568185" cy="577428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68185" cy="577428"/>
              </a:xfrm>
              <a:custGeom>
                <a:avLst/>
                <a:gdLst/>
                <a:ahLst/>
                <a:cxnLst/>
                <a:rect r="r" b="b" t="t" l="l"/>
                <a:pathLst>
                  <a:path h="577428" w="568185">
                    <a:moveTo>
                      <a:pt x="257646" y="0"/>
                    </a:moveTo>
                    <a:lnTo>
                      <a:pt x="310539" y="0"/>
                    </a:lnTo>
                    <a:cubicBezTo>
                      <a:pt x="452833" y="0"/>
                      <a:pt x="568185" y="115352"/>
                      <a:pt x="568185" y="257646"/>
                    </a:cubicBezTo>
                    <a:lnTo>
                      <a:pt x="568185" y="319782"/>
                    </a:lnTo>
                    <a:cubicBezTo>
                      <a:pt x="568185" y="462076"/>
                      <a:pt x="452833" y="577428"/>
                      <a:pt x="310539" y="577428"/>
                    </a:cubicBezTo>
                    <a:lnTo>
                      <a:pt x="257646" y="577428"/>
                    </a:lnTo>
                    <a:cubicBezTo>
                      <a:pt x="115352" y="577428"/>
                      <a:pt x="0" y="462076"/>
                      <a:pt x="0" y="319782"/>
                    </a:cubicBezTo>
                    <a:lnTo>
                      <a:pt x="0" y="257646"/>
                    </a:lnTo>
                    <a:cubicBezTo>
                      <a:pt x="0" y="115352"/>
                      <a:pt x="115352" y="0"/>
                      <a:pt x="257646" y="0"/>
                    </a:cubicBezTo>
                    <a:close/>
                  </a:path>
                </a:pathLst>
              </a:custGeom>
              <a:solidFill>
                <a:srgbClr val="CB6CE6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28575"/>
                <a:ext cx="568185" cy="606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34137" y="0"/>
              <a:ext cx="2395833" cy="2434808"/>
              <a:chOff x="0" y="0"/>
              <a:chExt cx="568185" cy="577428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568185" cy="577428"/>
              </a:xfrm>
              <a:custGeom>
                <a:avLst/>
                <a:gdLst/>
                <a:ahLst/>
                <a:cxnLst/>
                <a:rect r="r" b="b" t="t" l="l"/>
                <a:pathLst>
                  <a:path h="577428" w="568185">
                    <a:moveTo>
                      <a:pt x="257646" y="0"/>
                    </a:moveTo>
                    <a:lnTo>
                      <a:pt x="310539" y="0"/>
                    </a:lnTo>
                    <a:cubicBezTo>
                      <a:pt x="452833" y="0"/>
                      <a:pt x="568185" y="115352"/>
                      <a:pt x="568185" y="257646"/>
                    </a:cubicBezTo>
                    <a:lnTo>
                      <a:pt x="568185" y="319782"/>
                    </a:lnTo>
                    <a:cubicBezTo>
                      <a:pt x="568185" y="462076"/>
                      <a:pt x="452833" y="577428"/>
                      <a:pt x="310539" y="577428"/>
                    </a:cubicBezTo>
                    <a:lnTo>
                      <a:pt x="257646" y="577428"/>
                    </a:lnTo>
                    <a:cubicBezTo>
                      <a:pt x="115352" y="577428"/>
                      <a:pt x="0" y="462076"/>
                      <a:pt x="0" y="319782"/>
                    </a:cubicBezTo>
                    <a:lnTo>
                      <a:pt x="0" y="257646"/>
                    </a:lnTo>
                    <a:cubicBezTo>
                      <a:pt x="0" y="115352"/>
                      <a:pt x="115352" y="0"/>
                      <a:pt x="2576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28575"/>
                <a:ext cx="568185" cy="606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</p:grpSp>
      <p:sp>
        <p:nvSpPr>
          <p:cNvPr name="Freeform 37" id="37"/>
          <p:cNvSpPr/>
          <p:nvPr/>
        </p:nvSpPr>
        <p:spPr>
          <a:xfrm flipH="false" flipV="false" rot="0">
            <a:off x="8823442" y="3845881"/>
            <a:ext cx="1186552" cy="903937"/>
          </a:xfrm>
          <a:custGeom>
            <a:avLst/>
            <a:gdLst/>
            <a:ahLst/>
            <a:cxnLst/>
            <a:rect r="r" b="b" t="t" l="l"/>
            <a:pathLst>
              <a:path h="903937" w="1186552">
                <a:moveTo>
                  <a:pt x="0" y="0"/>
                </a:moveTo>
                <a:lnTo>
                  <a:pt x="1186552" y="0"/>
                </a:lnTo>
                <a:lnTo>
                  <a:pt x="1186552" y="903938"/>
                </a:lnTo>
                <a:lnTo>
                  <a:pt x="0" y="9039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5164247" y="5608997"/>
            <a:ext cx="1796875" cy="1826106"/>
            <a:chOff x="0" y="0"/>
            <a:chExt cx="568185" cy="5774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68185" cy="577428"/>
            </a:xfrm>
            <a:custGeom>
              <a:avLst/>
              <a:gdLst/>
              <a:ahLst/>
              <a:cxnLst/>
              <a:rect r="r" b="b" t="t" l="l"/>
              <a:pathLst>
                <a:path h="577428" w="568185">
                  <a:moveTo>
                    <a:pt x="168033" y="0"/>
                  </a:moveTo>
                  <a:lnTo>
                    <a:pt x="400151" y="0"/>
                  </a:lnTo>
                  <a:cubicBezTo>
                    <a:pt x="492954" y="0"/>
                    <a:pt x="568185" y="75231"/>
                    <a:pt x="568185" y="168033"/>
                  </a:cubicBezTo>
                  <a:lnTo>
                    <a:pt x="568185" y="409394"/>
                  </a:lnTo>
                  <a:cubicBezTo>
                    <a:pt x="568185" y="453960"/>
                    <a:pt x="550481" y="496700"/>
                    <a:pt x="518969" y="528212"/>
                  </a:cubicBezTo>
                  <a:cubicBezTo>
                    <a:pt x="487456" y="559724"/>
                    <a:pt x="444717" y="577428"/>
                    <a:pt x="400151" y="577428"/>
                  </a:cubicBezTo>
                  <a:lnTo>
                    <a:pt x="168033" y="577428"/>
                  </a:lnTo>
                  <a:cubicBezTo>
                    <a:pt x="75231" y="577428"/>
                    <a:pt x="0" y="502197"/>
                    <a:pt x="0" y="409394"/>
                  </a:cubicBezTo>
                  <a:lnTo>
                    <a:pt x="0" y="168033"/>
                  </a:lnTo>
                  <a:cubicBezTo>
                    <a:pt x="0" y="75231"/>
                    <a:pt x="75231" y="0"/>
                    <a:pt x="168033" y="0"/>
                  </a:cubicBezTo>
                  <a:close/>
                </a:path>
              </a:pathLst>
            </a:custGeom>
            <a:solidFill>
              <a:srgbClr val="F05F63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568185" cy="606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264849" y="5608997"/>
            <a:ext cx="1796875" cy="1826106"/>
            <a:chOff x="0" y="0"/>
            <a:chExt cx="568185" cy="5774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68185" cy="577428"/>
            </a:xfrm>
            <a:custGeom>
              <a:avLst/>
              <a:gdLst/>
              <a:ahLst/>
              <a:cxnLst/>
              <a:rect r="r" b="b" t="t" l="l"/>
              <a:pathLst>
                <a:path h="577428" w="568185">
                  <a:moveTo>
                    <a:pt x="168033" y="0"/>
                  </a:moveTo>
                  <a:lnTo>
                    <a:pt x="400151" y="0"/>
                  </a:lnTo>
                  <a:cubicBezTo>
                    <a:pt x="492954" y="0"/>
                    <a:pt x="568185" y="75231"/>
                    <a:pt x="568185" y="168033"/>
                  </a:cubicBezTo>
                  <a:lnTo>
                    <a:pt x="568185" y="409394"/>
                  </a:lnTo>
                  <a:cubicBezTo>
                    <a:pt x="568185" y="453960"/>
                    <a:pt x="550481" y="496700"/>
                    <a:pt x="518969" y="528212"/>
                  </a:cubicBezTo>
                  <a:cubicBezTo>
                    <a:pt x="487456" y="559724"/>
                    <a:pt x="444717" y="577428"/>
                    <a:pt x="400151" y="577428"/>
                  </a:cubicBezTo>
                  <a:lnTo>
                    <a:pt x="168033" y="577428"/>
                  </a:lnTo>
                  <a:cubicBezTo>
                    <a:pt x="75231" y="577428"/>
                    <a:pt x="0" y="502197"/>
                    <a:pt x="0" y="409394"/>
                  </a:cubicBezTo>
                  <a:lnTo>
                    <a:pt x="0" y="168033"/>
                  </a:lnTo>
                  <a:cubicBezTo>
                    <a:pt x="0" y="75231"/>
                    <a:pt x="75231" y="0"/>
                    <a:pt x="16803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568185" cy="606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5641098" y="5923404"/>
            <a:ext cx="975386" cy="1161174"/>
          </a:xfrm>
          <a:custGeom>
            <a:avLst/>
            <a:gdLst/>
            <a:ahLst/>
            <a:cxnLst/>
            <a:rect r="r" b="b" t="t" l="l"/>
            <a:pathLst>
              <a:path h="1161174" w="975386">
                <a:moveTo>
                  <a:pt x="0" y="0"/>
                </a:moveTo>
                <a:lnTo>
                  <a:pt x="975386" y="0"/>
                </a:lnTo>
                <a:lnTo>
                  <a:pt x="975386" y="1161174"/>
                </a:lnTo>
                <a:lnTo>
                  <a:pt x="0" y="11611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8419296" y="7859615"/>
            <a:ext cx="1796875" cy="1826106"/>
            <a:chOff x="0" y="0"/>
            <a:chExt cx="568185" cy="5774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68185" cy="577428"/>
            </a:xfrm>
            <a:custGeom>
              <a:avLst/>
              <a:gdLst/>
              <a:ahLst/>
              <a:cxnLst/>
              <a:rect r="r" b="b" t="t" l="l"/>
              <a:pathLst>
                <a:path h="577428" w="568185">
                  <a:moveTo>
                    <a:pt x="168033" y="0"/>
                  </a:moveTo>
                  <a:lnTo>
                    <a:pt x="400151" y="0"/>
                  </a:lnTo>
                  <a:cubicBezTo>
                    <a:pt x="492954" y="0"/>
                    <a:pt x="568185" y="75231"/>
                    <a:pt x="568185" y="168033"/>
                  </a:cubicBezTo>
                  <a:lnTo>
                    <a:pt x="568185" y="409394"/>
                  </a:lnTo>
                  <a:cubicBezTo>
                    <a:pt x="568185" y="453960"/>
                    <a:pt x="550481" y="496700"/>
                    <a:pt x="518969" y="528212"/>
                  </a:cubicBezTo>
                  <a:cubicBezTo>
                    <a:pt x="487456" y="559724"/>
                    <a:pt x="444717" y="577428"/>
                    <a:pt x="400151" y="577428"/>
                  </a:cubicBezTo>
                  <a:lnTo>
                    <a:pt x="168033" y="577428"/>
                  </a:lnTo>
                  <a:cubicBezTo>
                    <a:pt x="75231" y="577428"/>
                    <a:pt x="0" y="502197"/>
                    <a:pt x="0" y="409394"/>
                  </a:cubicBezTo>
                  <a:lnTo>
                    <a:pt x="0" y="168033"/>
                  </a:lnTo>
                  <a:cubicBezTo>
                    <a:pt x="0" y="75231"/>
                    <a:pt x="75231" y="0"/>
                    <a:pt x="168033" y="0"/>
                  </a:cubicBezTo>
                  <a:close/>
                </a:path>
              </a:pathLst>
            </a:custGeom>
            <a:solidFill>
              <a:srgbClr val="7ED957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568185" cy="606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519899" y="7859615"/>
            <a:ext cx="1796875" cy="1826106"/>
            <a:chOff x="0" y="0"/>
            <a:chExt cx="568185" cy="5774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68185" cy="577428"/>
            </a:xfrm>
            <a:custGeom>
              <a:avLst/>
              <a:gdLst/>
              <a:ahLst/>
              <a:cxnLst/>
              <a:rect r="r" b="b" t="t" l="l"/>
              <a:pathLst>
                <a:path h="577428" w="568185">
                  <a:moveTo>
                    <a:pt x="168033" y="0"/>
                  </a:moveTo>
                  <a:lnTo>
                    <a:pt x="400151" y="0"/>
                  </a:lnTo>
                  <a:cubicBezTo>
                    <a:pt x="492954" y="0"/>
                    <a:pt x="568185" y="75231"/>
                    <a:pt x="568185" y="168033"/>
                  </a:cubicBezTo>
                  <a:lnTo>
                    <a:pt x="568185" y="409394"/>
                  </a:lnTo>
                  <a:cubicBezTo>
                    <a:pt x="568185" y="453960"/>
                    <a:pt x="550481" y="496700"/>
                    <a:pt x="518969" y="528212"/>
                  </a:cubicBezTo>
                  <a:cubicBezTo>
                    <a:pt x="487456" y="559724"/>
                    <a:pt x="444717" y="577428"/>
                    <a:pt x="400151" y="577428"/>
                  </a:cubicBezTo>
                  <a:lnTo>
                    <a:pt x="168033" y="577428"/>
                  </a:lnTo>
                  <a:cubicBezTo>
                    <a:pt x="75231" y="577428"/>
                    <a:pt x="0" y="502197"/>
                    <a:pt x="0" y="409394"/>
                  </a:cubicBezTo>
                  <a:lnTo>
                    <a:pt x="0" y="168033"/>
                  </a:lnTo>
                  <a:cubicBezTo>
                    <a:pt x="0" y="75231"/>
                    <a:pt x="75231" y="0"/>
                    <a:pt x="16803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568185" cy="606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AutoShape 51" id="51"/>
          <p:cNvSpPr/>
          <p:nvPr/>
        </p:nvSpPr>
        <p:spPr>
          <a:xfrm>
            <a:off x="6965260" y="4284641"/>
            <a:ext cx="1454036" cy="13209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triangle" len="med" w="lg"/>
            <a:tailEnd type="arrow" len="sm" w="med"/>
          </a:ln>
        </p:spPr>
      </p:sp>
      <p:sp>
        <p:nvSpPr>
          <p:cNvPr name="AutoShape 52" id="52"/>
          <p:cNvSpPr/>
          <p:nvPr/>
        </p:nvSpPr>
        <p:spPr>
          <a:xfrm>
            <a:off x="7061724" y="6522050"/>
            <a:ext cx="1269622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triangle" len="med" w="lg"/>
            <a:tailEnd type="arrow" len="sm" w="med"/>
          </a:ln>
        </p:spPr>
      </p:sp>
      <p:sp>
        <p:nvSpPr>
          <p:cNvPr name="AutoShape 53" id="53"/>
          <p:cNvSpPr/>
          <p:nvPr/>
        </p:nvSpPr>
        <p:spPr>
          <a:xfrm>
            <a:off x="6992711" y="8772668"/>
            <a:ext cx="1426585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triangle" len="med" w="lg"/>
            <a:tailEnd type="arrow" len="sm" w="med"/>
          </a:ln>
        </p:spPr>
      </p:sp>
      <p:sp>
        <p:nvSpPr>
          <p:cNvPr name="AutoShape 54" id="54"/>
          <p:cNvSpPr/>
          <p:nvPr/>
        </p:nvSpPr>
        <p:spPr>
          <a:xfrm>
            <a:off x="9418324" y="7494600"/>
            <a:ext cx="13" cy="365016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triangle" len="med" w="lg"/>
            <a:tailEnd type="arrow" len="sm" w="med"/>
          </a:ln>
        </p:spPr>
      </p:sp>
      <p:sp>
        <p:nvSpPr>
          <p:cNvPr name="AutoShape 55" id="55"/>
          <p:cNvSpPr/>
          <p:nvPr/>
        </p:nvSpPr>
        <p:spPr>
          <a:xfrm>
            <a:off x="9368035" y="5210903"/>
            <a:ext cx="0" cy="313453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triangle" len="med" w="lg"/>
            <a:tailEnd type="arrow" len="sm" w="med"/>
          </a:ln>
        </p:spPr>
      </p:sp>
      <p:grpSp>
        <p:nvGrpSpPr>
          <p:cNvPr name="Group 56" id="56"/>
          <p:cNvGrpSpPr/>
          <p:nvPr/>
        </p:nvGrpSpPr>
        <p:grpSpPr>
          <a:xfrm rot="0">
            <a:off x="11295289" y="3384797"/>
            <a:ext cx="1796875" cy="1826106"/>
            <a:chOff x="0" y="0"/>
            <a:chExt cx="568185" cy="5774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68185" cy="577428"/>
            </a:xfrm>
            <a:custGeom>
              <a:avLst/>
              <a:gdLst/>
              <a:ahLst/>
              <a:cxnLst/>
              <a:rect r="r" b="b" t="t" l="l"/>
              <a:pathLst>
                <a:path h="577428" w="568185">
                  <a:moveTo>
                    <a:pt x="168033" y="0"/>
                  </a:moveTo>
                  <a:lnTo>
                    <a:pt x="400151" y="0"/>
                  </a:lnTo>
                  <a:cubicBezTo>
                    <a:pt x="492954" y="0"/>
                    <a:pt x="568185" y="75231"/>
                    <a:pt x="568185" y="168033"/>
                  </a:cubicBezTo>
                  <a:lnTo>
                    <a:pt x="568185" y="409394"/>
                  </a:lnTo>
                  <a:cubicBezTo>
                    <a:pt x="568185" y="453960"/>
                    <a:pt x="550481" y="496700"/>
                    <a:pt x="518969" y="528212"/>
                  </a:cubicBezTo>
                  <a:cubicBezTo>
                    <a:pt x="487456" y="559724"/>
                    <a:pt x="444717" y="577428"/>
                    <a:pt x="400151" y="577428"/>
                  </a:cubicBezTo>
                  <a:lnTo>
                    <a:pt x="168033" y="577428"/>
                  </a:lnTo>
                  <a:cubicBezTo>
                    <a:pt x="75231" y="577428"/>
                    <a:pt x="0" y="502197"/>
                    <a:pt x="0" y="409394"/>
                  </a:cubicBezTo>
                  <a:lnTo>
                    <a:pt x="0" y="168033"/>
                  </a:lnTo>
                  <a:cubicBezTo>
                    <a:pt x="0" y="75231"/>
                    <a:pt x="75231" y="0"/>
                    <a:pt x="168033" y="0"/>
                  </a:cubicBezTo>
                  <a:close/>
                </a:path>
              </a:pathLst>
            </a:custGeom>
            <a:solidFill>
              <a:srgbClr val="7ED957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568185" cy="606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395892" y="3384797"/>
            <a:ext cx="1796875" cy="1826106"/>
            <a:chOff x="0" y="0"/>
            <a:chExt cx="568185" cy="57742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68185" cy="577428"/>
            </a:xfrm>
            <a:custGeom>
              <a:avLst/>
              <a:gdLst/>
              <a:ahLst/>
              <a:cxnLst/>
              <a:rect r="r" b="b" t="t" l="l"/>
              <a:pathLst>
                <a:path h="577428" w="568185">
                  <a:moveTo>
                    <a:pt x="168033" y="0"/>
                  </a:moveTo>
                  <a:lnTo>
                    <a:pt x="400151" y="0"/>
                  </a:lnTo>
                  <a:cubicBezTo>
                    <a:pt x="492954" y="0"/>
                    <a:pt x="568185" y="75231"/>
                    <a:pt x="568185" y="168033"/>
                  </a:cubicBezTo>
                  <a:lnTo>
                    <a:pt x="568185" y="409394"/>
                  </a:lnTo>
                  <a:cubicBezTo>
                    <a:pt x="568185" y="453960"/>
                    <a:pt x="550481" y="496700"/>
                    <a:pt x="518969" y="528212"/>
                  </a:cubicBezTo>
                  <a:cubicBezTo>
                    <a:pt x="487456" y="559724"/>
                    <a:pt x="444717" y="577428"/>
                    <a:pt x="400151" y="577428"/>
                  </a:cubicBezTo>
                  <a:lnTo>
                    <a:pt x="168033" y="577428"/>
                  </a:lnTo>
                  <a:cubicBezTo>
                    <a:pt x="75231" y="577428"/>
                    <a:pt x="0" y="502197"/>
                    <a:pt x="0" y="409394"/>
                  </a:cubicBezTo>
                  <a:lnTo>
                    <a:pt x="0" y="168033"/>
                  </a:lnTo>
                  <a:cubicBezTo>
                    <a:pt x="0" y="75231"/>
                    <a:pt x="75231" y="0"/>
                    <a:pt x="16803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568185" cy="606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295289" y="7814760"/>
            <a:ext cx="1796875" cy="1826106"/>
            <a:chOff x="0" y="0"/>
            <a:chExt cx="568185" cy="5774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68185" cy="577428"/>
            </a:xfrm>
            <a:custGeom>
              <a:avLst/>
              <a:gdLst/>
              <a:ahLst/>
              <a:cxnLst/>
              <a:rect r="r" b="b" t="t" l="l"/>
              <a:pathLst>
                <a:path h="577428" w="568185">
                  <a:moveTo>
                    <a:pt x="168033" y="0"/>
                  </a:moveTo>
                  <a:lnTo>
                    <a:pt x="400151" y="0"/>
                  </a:lnTo>
                  <a:cubicBezTo>
                    <a:pt x="492954" y="0"/>
                    <a:pt x="568185" y="75231"/>
                    <a:pt x="568185" y="168033"/>
                  </a:cubicBezTo>
                  <a:lnTo>
                    <a:pt x="568185" y="409394"/>
                  </a:lnTo>
                  <a:cubicBezTo>
                    <a:pt x="568185" y="453960"/>
                    <a:pt x="550481" y="496700"/>
                    <a:pt x="518969" y="528212"/>
                  </a:cubicBezTo>
                  <a:cubicBezTo>
                    <a:pt x="487456" y="559724"/>
                    <a:pt x="444717" y="577428"/>
                    <a:pt x="400151" y="577428"/>
                  </a:cubicBezTo>
                  <a:lnTo>
                    <a:pt x="168033" y="577428"/>
                  </a:lnTo>
                  <a:cubicBezTo>
                    <a:pt x="75231" y="577428"/>
                    <a:pt x="0" y="502197"/>
                    <a:pt x="0" y="409394"/>
                  </a:cubicBezTo>
                  <a:lnTo>
                    <a:pt x="0" y="168033"/>
                  </a:lnTo>
                  <a:cubicBezTo>
                    <a:pt x="0" y="75231"/>
                    <a:pt x="75231" y="0"/>
                    <a:pt x="168033" y="0"/>
                  </a:cubicBezTo>
                  <a:close/>
                </a:path>
              </a:pathLst>
            </a:custGeom>
            <a:solidFill>
              <a:srgbClr val="5CE1E6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568185" cy="606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395892" y="7814760"/>
            <a:ext cx="1796875" cy="1826106"/>
            <a:chOff x="0" y="0"/>
            <a:chExt cx="568185" cy="5774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68185" cy="577428"/>
            </a:xfrm>
            <a:custGeom>
              <a:avLst/>
              <a:gdLst/>
              <a:ahLst/>
              <a:cxnLst/>
              <a:rect r="r" b="b" t="t" l="l"/>
              <a:pathLst>
                <a:path h="577428" w="568185">
                  <a:moveTo>
                    <a:pt x="168033" y="0"/>
                  </a:moveTo>
                  <a:lnTo>
                    <a:pt x="400151" y="0"/>
                  </a:lnTo>
                  <a:cubicBezTo>
                    <a:pt x="492954" y="0"/>
                    <a:pt x="568185" y="75231"/>
                    <a:pt x="568185" y="168033"/>
                  </a:cubicBezTo>
                  <a:lnTo>
                    <a:pt x="568185" y="409394"/>
                  </a:lnTo>
                  <a:cubicBezTo>
                    <a:pt x="568185" y="453960"/>
                    <a:pt x="550481" y="496700"/>
                    <a:pt x="518969" y="528212"/>
                  </a:cubicBezTo>
                  <a:cubicBezTo>
                    <a:pt x="487456" y="559724"/>
                    <a:pt x="444717" y="577428"/>
                    <a:pt x="400151" y="577428"/>
                  </a:cubicBezTo>
                  <a:lnTo>
                    <a:pt x="168033" y="577428"/>
                  </a:lnTo>
                  <a:cubicBezTo>
                    <a:pt x="75231" y="577428"/>
                    <a:pt x="0" y="502197"/>
                    <a:pt x="0" y="409394"/>
                  </a:cubicBezTo>
                  <a:lnTo>
                    <a:pt x="0" y="168033"/>
                  </a:lnTo>
                  <a:cubicBezTo>
                    <a:pt x="0" y="75231"/>
                    <a:pt x="75231" y="0"/>
                    <a:pt x="16803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568185" cy="606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11773874" y="8233387"/>
            <a:ext cx="940308" cy="988852"/>
          </a:xfrm>
          <a:custGeom>
            <a:avLst/>
            <a:gdLst/>
            <a:ahLst/>
            <a:cxnLst/>
            <a:rect r="r" b="b" t="t" l="l"/>
            <a:pathLst>
              <a:path h="988852" w="940308">
                <a:moveTo>
                  <a:pt x="0" y="0"/>
                </a:moveTo>
                <a:lnTo>
                  <a:pt x="940308" y="0"/>
                </a:lnTo>
                <a:lnTo>
                  <a:pt x="940308" y="988852"/>
                </a:lnTo>
                <a:lnTo>
                  <a:pt x="0" y="9888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9" id="69"/>
          <p:cNvSpPr/>
          <p:nvPr/>
        </p:nvSpPr>
        <p:spPr>
          <a:xfrm>
            <a:off x="10316774" y="4297850"/>
            <a:ext cx="978515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triangle" len="med" w="lg"/>
            <a:tailEnd type="arrow" len="sm" w="med"/>
          </a:ln>
        </p:spPr>
      </p:sp>
      <p:sp>
        <p:nvSpPr>
          <p:cNvPr name="AutoShape 70" id="70"/>
          <p:cNvSpPr/>
          <p:nvPr/>
        </p:nvSpPr>
        <p:spPr>
          <a:xfrm flipV="true">
            <a:off x="10316774" y="8765529"/>
            <a:ext cx="928226" cy="7139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triangle" len="med" w="lg"/>
            <a:tailEnd type="arrow" len="sm" w="med"/>
          </a:ln>
        </p:spPr>
      </p:sp>
      <p:sp>
        <p:nvSpPr>
          <p:cNvPr name="Freeform 71" id="71"/>
          <p:cNvSpPr/>
          <p:nvPr/>
        </p:nvSpPr>
        <p:spPr>
          <a:xfrm flipH="false" flipV="false" rot="0">
            <a:off x="8899873" y="8432434"/>
            <a:ext cx="1065906" cy="666191"/>
          </a:xfrm>
          <a:custGeom>
            <a:avLst/>
            <a:gdLst/>
            <a:ahLst/>
            <a:cxnLst/>
            <a:rect r="r" b="b" t="t" l="l"/>
            <a:pathLst>
              <a:path h="666191" w="1065906">
                <a:moveTo>
                  <a:pt x="0" y="0"/>
                </a:moveTo>
                <a:lnTo>
                  <a:pt x="1065906" y="0"/>
                </a:lnTo>
                <a:lnTo>
                  <a:pt x="1065906" y="666191"/>
                </a:lnTo>
                <a:lnTo>
                  <a:pt x="0" y="66619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2" id="72"/>
          <p:cNvSpPr txBox="true"/>
          <p:nvPr/>
        </p:nvSpPr>
        <p:spPr>
          <a:xfrm rot="0">
            <a:off x="5608908" y="4793359"/>
            <a:ext cx="1008156" cy="290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2"/>
              </a:lnSpc>
              <a:spcBef>
                <a:spcPct val="0"/>
              </a:spcBef>
            </a:pPr>
            <a:r>
              <a:rPr lang="en-US" sz="1723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Applicant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5747827" y="9346285"/>
            <a:ext cx="692893" cy="294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Donor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8894326" y="7169953"/>
            <a:ext cx="1007223" cy="290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2"/>
              </a:lnSpc>
              <a:spcBef>
                <a:spcPct val="0"/>
              </a:spcBef>
            </a:pPr>
            <a:r>
              <a:rPr lang="en-US" sz="1723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Database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8899873" y="4769716"/>
            <a:ext cx="1033689" cy="290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2"/>
              </a:lnSpc>
              <a:spcBef>
                <a:spcPct val="0"/>
              </a:spcBef>
            </a:pPr>
            <a:r>
              <a:rPr lang="en-US" sz="1723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Volunteer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5801137" y="7081510"/>
            <a:ext cx="688465" cy="290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2"/>
              </a:lnSpc>
              <a:spcBef>
                <a:spcPct val="0"/>
              </a:spcBef>
            </a:pPr>
            <a:r>
              <a:rPr lang="en-US" sz="1723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Admin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8794908" y="9282333"/>
            <a:ext cx="1247049" cy="290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2"/>
              </a:lnSpc>
              <a:spcBef>
                <a:spcPct val="0"/>
              </a:spcBef>
            </a:pPr>
            <a:r>
              <a:rPr lang="en-US" sz="1723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Web Server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1708210" y="9237478"/>
            <a:ext cx="1172431" cy="290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2"/>
              </a:lnSpc>
              <a:spcBef>
                <a:spcPct val="0"/>
              </a:spcBef>
            </a:pPr>
            <a:r>
              <a:rPr lang="en-US" sz="1723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Web Portal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670901" y="4793359"/>
            <a:ext cx="1247049" cy="290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2"/>
              </a:lnSpc>
              <a:spcBef>
                <a:spcPct val="0"/>
              </a:spcBef>
            </a:pPr>
            <a:r>
              <a:rPr lang="en-US" sz="1723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Web Server</a:t>
            </a:r>
          </a:p>
        </p:txBody>
      </p:sp>
      <p:sp>
        <p:nvSpPr>
          <p:cNvPr name="Freeform 80" id="80"/>
          <p:cNvSpPr/>
          <p:nvPr/>
        </p:nvSpPr>
        <p:spPr>
          <a:xfrm flipH="false" flipV="false" rot="0">
            <a:off x="11761376" y="3964754"/>
            <a:ext cx="1065906" cy="666191"/>
          </a:xfrm>
          <a:custGeom>
            <a:avLst/>
            <a:gdLst/>
            <a:ahLst/>
            <a:cxnLst/>
            <a:rect r="r" b="b" t="t" l="l"/>
            <a:pathLst>
              <a:path h="666191" w="1065906">
                <a:moveTo>
                  <a:pt x="0" y="0"/>
                </a:moveTo>
                <a:lnTo>
                  <a:pt x="1065906" y="0"/>
                </a:lnTo>
                <a:lnTo>
                  <a:pt x="1065906" y="666191"/>
                </a:lnTo>
                <a:lnTo>
                  <a:pt x="0" y="66619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1" id="81"/>
          <p:cNvSpPr/>
          <p:nvPr/>
        </p:nvSpPr>
        <p:spPr>
          <a:xfrm flipV="true">
            <a:off x="10404723" y="5210903"/>
            <a:ext cx="1738184" cy="1311147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triangle" len="med" w="lg"/>
            <a:tailEnd type="arrow" len="sm" w="med"/>
          </a:ln>
        </p:spPr>
      </p:sp>
      <p:sp>
        <p:nvSpPr>
          <p:cNvPr name="AutoShape 82" id="82"/>
          <p:cNvSpPr/>
          <p:nvPr/>
        </p:nvSpPr>
        <p:spPr>
          <a:xfrm>
            <a:off x="10404723" y="6834591"/>
            <a:ext cx="1789003" cy="980169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triangle" len="med" w="lg"/>
            <a:tailEnd type="arrow" len="sm" w="med"/>
          </a:ln>
        </p:spPr>
      </p:sp>
    </p:spTree>
  </p:cSld>
  <p:clrMapOvr>
    <a:masterClrMapping/>
  </p:clrMapOvr>
  <p:transition spd="fast">
    <p:cover dir="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0674" y="649286"/>
            <a:ext cx="851827" cy="949111"/>
          </a:xfrm>
          <a:custGeom>
            <a:avLst/>
            <a:gdLst/>
            <a:ahLst/>
            <a:cxnLst/>
            <a:rect r="r" b="b" t="t" l="l"/>
            <a:pathLst>
              <a:path h="949111" w="851827">
                <a:moveTo>
                  <a:pt x="0" y="0"/>
                </a:moveTo>
                <a:lnTo>
                  <a:pt x="851827" y="0"/>
                </a:lnTo>
                <a:lnTo>
                  <a:pt x="851827" y="949111"/>
                </a:lnTo>
                <a:lnTo>
                  <a:pt x="0" y="9491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8700" y="2698275"/>
          <a:ext cx="7315200" cy="7172325"/>
        </p:xfrm>
        <a:graphic>
          <a:graphicData uri="http://schemas.openxmlformats.org/drawingml/2006/table">
            <a:tbl>
              <a:tblPr/>
              <a:tblGrid>
                <a:gridCol w="1437167"/>
                <a:gridCol w="5878033"/>
              </a:tblGrid>
              <a:tr h="7373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542" b="true">
                          <a:solidFill>
                            <a:srgbClr val="FFFFFF"/>
                          </a:solidFill>
                          <a:latin typeface="Touvlo Bold"/>
                          <a:ea typeface="Touvlo Bold"/>
                          <a:cs typeface="Touvlo Bold"/>
                          <a:sym typeface="Touvlo Bold"/>
                        </a:rPr>
                        <a:t>Use Case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E3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542" b="true">
                          <a:solidFill>
                            <a:srgbClr val="FFFFFF"/>
                          </a:solidFill>
                          <a:latin typeface="Touvlo Bold"/>
                          <a:ea typeface="Touvlo Bold"/>
                          <a:cs typeface="Touvlo Bold"/>
                          <a:sym typeface="Touvlo Bold"/>
                        </a:rPr>
                        <a:t>Title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E3C"/>
                    </a:solidFill>
                  </a:tcPr>
                </a:tc>
              </a:tr>
              <a:tr h="8043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542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UC1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80"/>
                        </a:lnSpc>
                        <a:defRPr/>
                      </a:pPr>
                      <a:r>
                        <a:rPr lang="en-US" sz="1842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Applicant Registration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3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542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UC2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80"/>
                        </a:lnSpc>
                        <a:defRPr/>
                      </a:pPr>
                      <a:r>
                        <a:rPr lang="en-US" sz="1842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Volunteer Login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3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542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UC3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80"/>
                        </a:lnSpc>
                        <a:defRPr/>
                      </a:pPr>
                      <a:r>
                        <a:rPr lang="en-US" sz="1842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Applicant Verification and Approval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3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542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UC4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80"/>
                        </a:lnSpc>
                        <a:defRPr/>
                      </a:pPr>
                      <a:r>
                        <a:rPr lang="en-US" sz="1842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Donor Registration and Login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3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542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UC5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80"/>
                        </a:lnSpc>
                        <a:defRPr/>
                      </a:pPr>
                      <a:r>
                        <a:rPr lang="en-US" sz="1842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View and Fund Verified Applicants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3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542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UC6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80"/>
                        </a:lnSpc>
                        <a:defRPr/>
                      </a:pPr>
                      <a:r>
                        <a:rPr lang="en-US" sz="1842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Donation Request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3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542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UC7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80"/>
                        </a:lnSpc>
                        <a:defRPr/>
                      </a:pPr>
                      <a:r>
                        <a:rPr lang="en-US" sz="1842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Send Funding Notification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3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542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UC8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80"/>
                        </a:lnSpc>
                        <a:defRPr/>
                      </a:pPr>
                      <a:r>
                        <a:rPr lang="en-US" sz="1842">
                          <a:solidFill>
                            <a:srgbClr val="000000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Generate Report and Progress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1665353"/>
            <a:ext cx="1755775" cy="302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5"/>
              </a:lnSpc>
              <a:spcBef>
                <a:spcPct val="0"/>
              </a:spcBef>
            </a:pPr>
            <a:r>
              <a:rPr lang="en-US" b="true" sz="1796">
                <a:solidFill>
                  <a:srgbClr val="388E3C"/>
                </a:solidFill>
                <a:latin typeface="Gotham Bold"/>
                <a:ea typeface="Gotham Bold"/>
                <a:cs typeface="Gotham Bold"/>
                <a:sym typeface="Gotham Bold"/>
              </a:rPr>
              <a:t>Haat Baran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60980" y="420686"/>
            <a:ext cx="4499989" cy="98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System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952371"/>
            <a:ext cx="7315200" cy="70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Us</a:t>
            </a:r>
            <a:r>
              <a:rPr lang="en-US" sz="189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 cases describe the interaction between the user and the system to achieve specific goals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293343" y="2347386"/>
            <a:ext cx="3153838" cy="7640193"/>
            <a:chOff x="0" y="0"/>
            <a:chExt cx="959724" cy="23249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9724" cy="2324939"/>
            </a:xfrm>
            <a:custGeom>
              <a:avLst/>
              <a:gdLst/>
              <a:ahLst/>
              <a:cxnLst/>
              <a:rect r="r" b="b" t="t" l="l"/>
              <a:pathLst>
                <a:path h="2324939" w="959724">
                  <a:moveTo>
                    <a:pt x="56460" y="0"/>
                  </a:moveTo>
                  <a:lnTo>
                    <a:pt x="903265" y="0"/>
                  </a:lnTo>
                  <a:cubicBezTo>
                    <a:pt x="918239" y="0"/>
                    <a:pt x="932600" y="5948"/>
                    <a:pt x="943188" y="16537"/>
                  </a:cubicBezTo>
                  <a:cubicBezTo>
                    <a:pt x="953776" y="27125"/>
                    <a:pt x="959724" y="41486"/>
                    <a:pt x="959724" y="56460"/>
                  </a:cubicBezTo>
                  <a:lnTo>
                    <a:pt x="959724" y="2268479"/>
                  </a:lnTo>
                  <a:cubicBezTo>
                    <a:pt x="959724" y="2283453"/>
                    <a:pt x="953776" y="2297814"/>
                    <a:pt x="943188" y="2308402"/>
                  </a:cubicBezTo>
                  <a:cubicBezTo>
                    <a:pt x="932600" y="2318990"/>
                    <a:pt x="918239" y="2324939"/>
                    <a:pt x="903265" y="2324939"/>
                  </a:cubicBezTo>
                  <a:lnTo>
                    <a:pt x="56460" y="2324939"/>
                  </a:lnTo>
                  <a:cubicBezTo>
                    <a:pt x="41486" y="2324939"/>
                    <a:pt x="27125" y="2318990"/>
                    <a:pt x="16537" y="2308402"/>
                  </a:cubicBezTo>
                  <a:cubicBezTo>
                    <a:pt x="5948" y="2297814"/>
                    <a:pt x="0" y="2283453"/>
                    <a:pt x="0" y="2268479"/>
                  </a:cubicBezTo>
                  <a:lnTo>
                    <a:pt x="0" y="56460"/>
                  </a:lnTo>
                  <a:cubicBezTo>
                    <a:pt x="0" y="41486"/>
                    <a:pt x="5948" y="27125"/>
                    <a:pt x="16537" y="16537"/>
                  </a:cubicBezTo>
                  <a:cubicBezTo>
                    <a:pt x="27125" y="5948"/>
                    <a:pt x="41486" y="0"/>
                    <a:pt x="56460" y="0"/>
                  </a:cubicBezTo>
                  <a:close/>
                </a:path>
              </a:pathLst>
            </a:custGeom>
            <a:solidFill>
              <a:srgbClr val="388E3C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959724" cy="2353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744938" y="2700212"/>
            <a:ext cx="872061" cy="953072"/>
          </a:xfrm>
          <a:custGeom>
            <a:avLst/>
            <a:gdLst/>
            <a:ahLst/>
            <a:cxnLst/>
            <a:rect r="r" b="b" t="t" l="l"/>
            <a:pathLst>
              <a:path h="953072" w="872061">
                <a:moveTo>
                  <a:pt x="0" y="0"/>
                </a:moveTo>
                <a:lnTo>
                  <a:pt x="872060" y="0"/>
                </a:lnTo>
                <a:lnTo>
                  <a:pt x="872060" y="953071"/>
                </a:lnTo>
                <a:lnTo>
                  <a:pt x="0" y="953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744938" y="6776046"/>
            <a:ext cx="872061" cy="953072"/>
          </a:xfrm>
          <a:custGeom>
            <a:avLst/>
            <a:gdLst/>
            <a:ahLst/>
            <a:cxnLst/>
            <a:rect r="r" b="b" t="t" l="l"/>
            <a:pathLst>
              <a:path h="953072" w="872061">
                <a:moveTo>
                  <a:pt x="0" y="0"/>
                </a:moveTo>
                <a:lnTo>
                  <a:pt x="872060" y="0"/>
                </a:lnTo>
                <a:lnTo>
                  <a:pt x="872060" y="953071"/>
                </a:lnTo>
                <a:lnTo>
                  <a:pt x="0" y="953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230194" y="2626368"/>
            <a:ext cx="872061" cy="953072"/>
          </a:xfrm>
          <a:custGeom>
            <a:avLst/>
            <a:gdLst/>
            <a:ahLst/>
            <a:cxnLst/>
            <a:rect r="r" b="b" t="t" l="l"/>
            <a:pathLst>
              <a:path h="953072" w="872061">
                <a:moveTo>
                  <a:pt x="0" y="0"/>
                </a:moveTo>
                <a:lnTo>
                  <a:pt x="872060" y="0"/>
                </a:lnTo>
                <a:lnTo>
                  <a:pt x="872060" y="953072"/>
                </a:lnTo>
                <a:lnTo>
                  <a:pt x="0" y="9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534754" y="2700212"/>
            <a:ext cx="2671016" cy="773783"/>
            <a:chOff x="0" y="0"/>
            <a:chExt cx="812800" cy="2354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235465"/>
            </a:xfrm>
            <a:custGeom>
              <a:avLst/>
              <a:gdLst/>
              <a:ahLst/>
              <a:cxnLst/>
              <a:rect r="r" b="b" t="t" l="l"/>
              <a:pathLst>
                <a:path h="235465" w="812800">
                  <a:moveTo>
                    <a:pt x="37680" y="0"/>
                  </a:moveTo>
                  <a:lnTo>
                    <a:pt x="775120" y="0"/>
                  </a:lnTo>
                  <a:cubicBezTo>
                    <a:pt x="785113" y="0"/>
                    <a:pt x="794697" y="3970"/>
                    <a:pt x="801764" y="11036"/>
                  </a:cubicBezTo>
                  <a:cubicBezTo>
                    <a:pt x="808830" y="18103"/>
                    <a:pt x="812800" y="27687"/>
                    <a:pt x="812800" y="37680"/>
                  </a:cubicBezTo>
                  <a:lnTo>
                    <a:pt x="812800" y="197785"/>
                  </a:lnTo>
                  <a:cubicBezTo>
                    <a:pt x="812800" y="218595"/>
                    <a:pt x="795930" y="235465"/>
                    <a:pt x="775120" y="235465"/>
                  </a:cubicBezTo>
                  <a:lnTo>
                    <a:pt x="37680" y="235465"/>
                  </a:lnTo>
                  <a:cubicBezTo>
                    <a:pt x="27687" y="235465"/>
                    <a:pt x="18103" y="231495"/>
                    <a:pt x="11036" y="224429"/>
                  </a:cubicBezTo>
                  <a:cubicBezTo>
                    <a:pt x="3970" y="217362"/>
                    <a:pt x="0" y="207778"/>
                    <a:pt x="0" y="197785"/>
                  </a:cubicBezTo>
                  <a:lnTo>
                    <a:pt x="0" y="37680"/>
                  </a:lnTo>
                  <a:cubicBezTo>
                    <a:pt x="0" y="27687"/>
                    <a:pt x="3970" y="18103"/>
                    <a:pt x="11036" y="11036"/>
                  </a:cubicBezTo>
                  <a:cubicBezTo>
                    <a:pt x="18103" y="3970"/>
                    <a:pt x="27687" y="0"/>
                    <a:pt x="37680" y="0"/>
                  </a:cubicBezTo>
                  <a:close/>
                </a:path>
              </a:pathLst>
            </a:custGeom>
            <a:solidFill>
              <a:srgbClr val="E2A9F1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12800" cy="264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627770" y="2968884"/>
            <a:ext cx="2484983" cy="29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8"/>
              </a:lnSpc>
              <a:spcBef>
                <a:spcPct val="0"/>
              </a:spcBef>
            </a:pPr>
            <a:r>
              <a:rPr lang="en-US" sz="181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Applicant Registration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37299" y="3624708"/>
            <a:ext cx="1087338" cy="29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8"/>
              </a:lnSpc>
              <a:spcBef>
                <a:spcPct val="0"/>
              </a:spcBef>
            </a:pPr>
            <a:r>
              <a:rPr lang="en-US" sz="1813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Volunteer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534754" y="3758728"/>
            <a:ext cx="2671016" cy="773783"/>
            <a:chOff x="0" y="0"/>
            <a:chExt cx="812800" cy="2354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235465"/>
            </a:xfrm>
            <a:custGeom>
              <a:avLst/>
              <a:gdLst/>
              <a:ahLst/>
              <a:cxnLst/>
              <a:rect r="r" b="b" t="t" l="l"/>
              <a:pathLst>
                <a:path h="235465" w="812800">
                  <a:moveTo>
                    <a:pt x="37680" y="0"/>
                  </a:moveTo>
                  <a:lnTo>
                    <a:pt x="775120" y="0"/>
                  </a:lnTo>
                  <a:cubicBezTo>
                    <a:pt x="785113" y="0"/>
                    <a:pt x="794697" y="3970"/>
                    <a:pt x="801764" y="11036"/>
                  </a:cubicBezTo>
                  <a:cubicBezTo>
                    <a:pt x="808830" y="18103"/>
                    <a:pt x="812800" y="27687"/>
                    <a:pt x="812800" y="37680"/>
                  </a:cubicBezTo>
                  <a:lnTo>
                    <a:pt x="812800" y="197785"/>
                  </a:lnTo>
                  <a:cubicBezTo>
                    <a:pt x="812800" y="218595"/>
                    <a:pt x="795930" y="235465"/>
                    <a:pt x="775120" y="235465"/>
                  </a:cubicBezTo>
                  <a:lnTo>
                    <a:pt x="37680" y="235465"/>
                  </a:lnTo>
                  <a:cubicBezTo>
                    <a:pt x="27687" y="235465"/>
                    <a:pt x="18103" y="231495"/>
                    <a:pt x="11036" y="224429"/>
                  </a:cubicBezTo>
                  <a:cubicBezTo>
                    <a:pt x="3970" y="217362"/>
                    <a:pt x="0" y="207778"/>
                    <a:pt x="0" y="197785"/>
                  </a:cubicBezTo>
                  <a:lnTo>
                    <a:pt x="0" y="37680"/>
                  </a:lnTo>
                  <a:cubicBezTo>
                    <a:pt x="0" y="27687"/>
                    <a:pt x="3970" y="18103"/>
                    <a:pt x="11036" y="11036"/>
                  </a:cubicBezTo>
                  <a:cubicBezTo>
                    <a:pt x="18103" y="3970"/>
                    <a:pt x="27687" y="0"/>
                    <a:pt x="37680" y="0"/>
                  </a:cubicBezTo>
                  <a:close/>
                </a:path>
              </a:pathLst>
            </a:custGeom>
            <a:solidFill>
              <a:srgbClr val="A4B9FB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812800" cy="264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980419" y="4011600"/>
            <a:ext cx="1779687" cy="29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8"/>
              </a:lnSpc>
              <a:spcBef>
                <a:spcPct val="0"/>
              </a:spcBef>
            </a:pPr>
            <a:r>
              <a:rPr lang="en-US" sz="181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Volunteer Login</a:t>
            </a:r>
          </a:p>
        </p:txBody>
      </p:sp>
      <p:sp>
        <p:nvSpPr>
          <p:cNvPr name="AutoShape 22" id="22"/>
          <p:cNvSpPr/>
          <p:nvPr/>
        </p:nvSpPr>
        <p:spPr>
          <a:xfrm flipV="true">
            <a:off x="11616998" y="3087103"/>
            <a:ext cx="917756" cy="243859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23" id="23"/>
          <p:cNvSpPr/>
          <p:nvPr/>
        </p:nvSpPr>
        <p:spPr>
          <a:xfrm>
            <a:off x="11616998" y="3533411"/>
            <a:ext cx="917756" cy="612209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12534754" y="4812950"/>
            <a:ext cx="2671016" cy="773783"/>
            <a:chOff x="0" y="0"/>
            <a:chExt cx="812800" cy="23546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235465"/>
            </a:xfrm>
            <a:custGeom>
              <a:avLst/>
              <a:gdLst/>
              <a:ahLst/>
              <a:cxnLst/>
              <a:rect r="r" b="b" t="t" l="l"/>
              <a:pathLst>
                <a:path h="235465" w="812800">
                  <a:moveTo>
                    <a:pt x="37680" y="0"/>
                  </a:moveTo>
                  <a:lnTo>
                    <a:pt x="775120" y="0"/>
                  </a:lnTo>
                  <a:cubicBezTo>
                    <a:pt x="785113" y="0"/>
                    <a:pt x="794697" y="3970"/>
                    <a:pt x="801764" y="11036"/>
                  </a:cubicBezTo>
                  <a:cubicBezTo>
                    <a:pt x="808830" y="18103"/>
                    <a:pt x="812800" y="27687"/>
                    <a:pt x="812800" y="37680"/>
                  </a:cubicBezTo>
                  <a:lnTo>
                    <a:pt x="812800" y="197785"/>
                  </a:lnTo>
                  <a:cubicBezTo>
                    <a:pt x="812800" y="218595"/>
                    <a:pt x="795930" y="235465"/>
                    <a:pt x="775120" y="235465"/>
                  </a:cubicBezTo>
                  <a:lnTo>
                    <a:pt x="37680" y="235465"/>
                  </a:lnTo>
                  <a:cubicBezTo>
                    <a:pt x="27687" y="235465"/>
                    <a:pt x="18103" y="231495"/>
                    <a:pt x="11036" y="224429"/>
                  </a:cubicBezTo>
                  <a:cubicBezTo>
                    <a:pt x="3970" y="217362"/>
                    <a:pt x="0" y="207778"/>
                    <a:pt x="0" y="197785"/>
                  </a:cubicBezTo>
                  <a:lnTo>
                    <a:pt x="0" y="37680"/>
                  </a:lnTo>
                  <a:cubicBezTo>
                    <a:pt x="0" y="27687"/>
                    <a:pt x="3970" y="18103"/>
                    <a:pt x="11036" y="11036"/>
                  </a:cubicBezTo>
                  <a:cubicBezTo>
                    <a:pt x="18103" y="3970"/>
                    <a:pt x="27687" y="0"/>
                    <a:pt x="37680" y="0"/>
                  </a:cubicBezTo>
                  <a:close/>
                </a:path>
              </a:pathLst>
            </a:custGeom>
            <a:solidFill>
              <a:srgbClr val="F97E81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812800" cy="264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569355" y="5056297"/>
            <a:ext cx="2601813" cy="32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8"/>
              </a:lnSpc>
              <a:spcBef>
                <a:spcPct val="0"/>
              </a:spcBef>
            </a:pPr>
            <a:r>
              <a:rPr lang="en-US" sz="191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Applicant Veriification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243378" y="3720628"/>
            <a:ext cx="764084" cy="32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8"/>
              </a:lnSpc>
              <a:spcBef>
                <a:spcPct val="0"/>
              </a:spcBef>
            </a:pPr>
            <a:r>
              <a:rPr lang="en-US" sz="1913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Admin</a:t>
            </a:r>
          </a:p>
        </p:txBody>
      </p:sp>
      <p:sp>
        <p:nvSpPr>
          <p:cNvPr name="AutoShape 29" id="29"/>
          <p:cNvSpPr/>
          <p:nvPr/>
        </p:nvSpPr>
        <p:spPr>
          <a:xfrm flipH="true">
            <a:off x="15205770" y="3208349"/>
            <a:ext cx="1137371" cy="1991493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0">
            <a:off x="12547724" y="6909170"/>
            <a:ext cx="2671016" cy="773783"/>
            <a:chOff x="0" y="0"/>
            <a:chExt cx="812800" cy="23546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235465"/>
            </a:xfrm>
            <a:custGeom>
              <a:avLst/>
              <a:gdLst/>
              <a:ahLst/>
              <a:cxnLst/>
              <a:rect r="r" b="b" t="t" l="l"/>
              <a:pathLst>
                <a:path h="235465" w="812800">
                  <a:moveTo>
                    <a:pt x="37680" y="0"/>
                  </a:moveTo>
                  <a:lnTo>
                    <a:pt x="775120" y="0"/>
                  </a:lnTo>
                  <a:cubicBezTo>
                    <a:pt x="785113" y="0"/>
                    <a:pt x="794697" y="3970"/>
                    <a:pt x="801764" y="11036"/>
                  </a:cubicBezTo>
                  <a:cubicBezTo>
                    <a:pt x="808830" y="18103"/>
                    <a:pt x="812800" y="27687"/>
                    <a:pt x="812800" y="37680"/>
                  </a:cubicBezTo>
                  <a:lnTo>
                    <a:pt x="812800" y="197785"/>
                  </a:lnTo>
                  <a:cubicBezTo>
                    <a:pt x="812800" y="218595"/>
                    <a:pt x="795930" y="235465"/>
                    <a:pt x="775120" y="235465"/>
                  </a:cubicBezTo>
                  <a:lnTo>
                    <a:pt x="37680" y="235465"/>
                  </a:lnTo>
                  <a:cubicBezTo>
                    <a:pt x="27687" y="235465"/>
                    <a:pt x="18103" y="231495"/>
                    <a:pt x="11036" y="224429"/>
                  </a:cubicBezTo>
                  <a:cubicBezTo>
                    <a:pt x="3970" y="217362"/>
                    <a:pt x="0" y="207778"/>
                    <a:pt x="0" y="197785"/>
                  </a:cubicBezTo>
                  <a:lnTo>
                    <a:pt x="0" y="37680"/>
                  </a:lnTo>
                  <a:cubicBezTo>
                    <a:pt x="0" y="27687"/>
                    <a:pt x="3970" y="18103"/>
                    <a:pt x="11036" y="11036"/>
                  </a:cubicBezTo>
                  <a:cubicBezTo>
                    <a:pt x="18103" y="3970"/>
                    <a:pt x="27687" y="0"/>
                    <a:pt x="37680" y="0"/>
                  </a:cubicBezTo>
                  <a:close/>
                </a:path>
              </a:pathLst>
            </a:custGeom>
            <a:solidFill>
              <a:srgbClr val="7ED957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812800" cy="264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913892" y="7169036"/>
            <a:ext cx="1912739" cy="32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8"/>
              </a:lnSpc>
              <a:spcBef>
                <a:spcPct val="0"/>
              </a:spcBef>
            </a:pPr>
            <a:r>
              <a:rPr lang="en-US" sz="191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Select Applicant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02051" y="7776367"/>
            <a:ext cx="757833" cy="32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8"/>
              </a:lnSpc>
              <a:spcBef>
                <a:spcPct val="0"/>
              </a:spcBef>
            </a:pPr>
            <a:r>
              <a:rPr lang="en-US" sz="1913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Donor</a:t>
            </a:r>
          </a:p>
        </p:txBody>
      </p:sp>
      <p:sp>
        <p:nvSpPr>
          <p:cNvPr name="AutoShape 35" id="35"/>
          <p:cNvSpPr/>
          <p:nvPr/>
        </p:nvSpPr>
        <p:spPr>
          <a:xfrm flipV="true">
            <a:off x="11639965" y="7296061"/>
            <a:ext cx="907759" cy="2455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16387239" y="6830647"/>
            <a:ext cx="872061" cy="953072"/>
          </a:xfrm>
          <a:custGeom>
            <a:avLst/>
            <a:gdLst/>
            <a:ahLst/>
            <a:cxnLst/>
            <a:rect r="r" b="b" t="t" l="l"/>
            <a:pathLst>
              <a:path h="953072" w="872061">
                <a:moveTo>
                  <a:pt x="0" y="0"/>
                </a:moveTo>
                <a:lnTo>
                  <a:pt x="872061" y="0"/>
                </a:lnTo>
                <a:lnTo>
                  <a:pt x="872061" y="953072"/>
                </a:lnTo>
                <a:lnTo>
                  <a:pt x="0" y="9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6270424" y="7785892"/>
            <a:ext cx="1060400" cy="29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8"/>
              </a:lnSpc>
              <a:spcBef>
                <a:spcPct val="0"/>
              </a:spcBef>
            </a:pPr>
            <a:r>
              <a:rPr lang="en-US" sz="1813">
                <a:solidFill>
                  <a:srgbClr val="000000"/>
                </a:solidFill>
                <a:latin typeface="Touvlo"/>
                <a:ea typeface="Touvlo"/>
                <a:cs typeface="Touvlo"/>
                <a:sym typeface="Touvlo"/>
              </a:rPr>
              <a:t>Applicant</a:t>
            </a:r>
          </a:p>
        </p:txBody>
      </p:sp>
      <p:sp>
        <p:nvSpPr>
          <p:cNvPr name="AutoShape 38" id="38"/>
          <p:cNvSpPr/>
          <p:nvPr/>
        </p:nvSpPr>
        <p:spPr>
          <a:xfrm flipH="true" flipV="true">
            <a:off x="15205770" y="3087103"/>
            <a:ext cx="1181469" cy="4373857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arrow" len="sm" w="med"/>
          </a:ln>
        </p:spPr>
      </p:sp>
      <p:grpSp>
        <p:nvGrpSpPr>
          <p:cNvPr name="Group 39" id="39"/>
          <p:cNvGrpSpPr/>
          <p:nvPr/>
        </p:nvGrpSpPr>
        <p:grpSpPr>
          <a:xfrm rot="0">
            <a:off x="12547724" y="7929739"/>
            <a:ext cx="2671016" cy="773783"/>
            <a:chOff x="0" y="0"/>
            <a:chExt cx="812800" cy="23546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235465"/>
            </a:xfrm>
            <a:custGeom>
              <a:avLst/>
              <a:gdLst/>
              <a:ahLst/>
              <a:cxnLst/>
              <a:rect r="r" b="b" t="t" l="l"/>
              <a:pathLst>
                <a:path h="235465" w="812800">
                  <a:moveTo>
                    <a:pt x="37680" y="0"/>
                  </a:moveTo>
                  <a:lnTo>
                    <a:pt x="775120" y="0"/>
                  </a:lnTo>
                  <a:cubicBezTo>
                    <a:pt x="785113" y="0"/>
                    <a:pt x="794697" y="3970"/>
                    <a:pt x="801764" y="11036"/>
                  </a:cubicBezTo>
                  <a:cubicBezTo>
                    <a:pt x="808830" y="18103"/>
                    <a:pt x="812800" y="27687"/>
                    <a:pt x="812800" y="37680"/>
                  </a:cubicBezTo>
                  <a:lnTo>
                    <a:pt x="812800" y="197785"/>
                  </a:lnTo>
                  <a:cubicBezTo>
                    <a:pt x="812800" y="218595"/>
                    <a:pt x="795930" y="235465"/>
                    <a:pt x="775120" y="235465"/>
                  </a:cubicBezTo>
                  <a:lnTo>
                    <a:pt x="37680" y="235465"/>
                  </a:lnTo>
                  <a:cubicBezTo>
                    <a:pt x="27687" y="235465"/>
                    <a:pt x="18103" y="231495"/>
                    <a:pt x="11036" y="224429"/>
                  </a:cubicBezTo>
                  <a:cubicBezTo>
                    <a:pt x="3970" y="217362"/>
                    <a:pt x="0" y="207778"/>
                    <a:pt x="0" y="197785"/>
                  </a:cubicBezTo>
                  <a:lnTo>
                    <a:pt x="0" y="37680"/>
                  </a:lnTo>
                  <a:cubicBezTo>
                    <a:pt x="0" y="27687"/>
                    <a:pt x="3970" y="18103"/>
                    <a:pt x="11036" y="11036"/>
                  </a:cubicBezTo>
                  <a:cubicBezTo>
                    <a:pt x="18103" y="3970"/>
                    <a:pt x="27687" y="0"/>
                    <a:pt x="37680" y="0"/>
                  </a:cubicBezTo>
                  <a:close/>
                </a:path>
              </a:pathLst>
            </a:custGeom>
            <a:solidFill>
              <a:srgbClr val="7ED957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812800" cy="264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817601" y="8173086"/>
            <a:ext cx="2105323" cy="32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8"/>
              </a:lnSpc>
              <a:spcBef>
                <a:spcPct val="0"/>
              </a:spcBef>
            </a:pPr>
            <a:r>
              <a:rPr lang="en-US" sz="191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Donation Request</a:t>
            </a:r>
          </a:p>
        </p:txBody>
      </p:sp>
      <p:sp>
        <p:nvSpPr>
          <p:cNvPr name="AutoShape 43" id="43"/>
          <p:cNvSpPr/>
          <p:nvPr/>
        </p:nvSpPr>
        <p:spPr>
          <a:xfrm>
            <a:off x="11616998" y="7514540"/>
            <a:ext cx="930726" cy="80209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44" id="44"/>
          <p:cNvSpPr/>
          <p:nvPr/>
        </p:nvSpPr>
        <p:spPr>
          <a:xfrm flipH="true">
            <a:off x="15218740" y="3330963"/>
            <a:ext cx="1011453" cy="4985668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triangle" len="med" w="lg"/>
            <a:tailEnd type="oval" len="lg" w="lg"/>
          </a:ln>
        </p:spPr>
      </p:sp>
      <p:grpSp>
        <p:nvGrpSpPr>
          <p:cNvPr name="Group 45" id="45"/>
          <p:cNvGrpSpPr/>
          <p:nvPr/>
        </p:nvGrpSpPr>
        <p:grpSpPr>
          <a:xfrm rot="0">
            <a:off x="12534754" y="8950309"/>
            <a:ext cx="2671016" cy="773783"/>
            <a:chOff x="0" y="0"/>
            <a:chExt cx="812800" cy="2354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235465"/>
            </a:xfrm>
            <a:custGeom>
              <a:avLst/>
              <a:gdLst/>
              <a:ahLst/>
              <a:cxnLst/>
              <a:rect r="r" b="b" t="t" l="l"/>
              <a:pathLst>
                <a:path h="235465" w="812800">
                  <a:moveTo>
                    <a:pt x="37680" y="0"/>
                  </a:moveTo>
                  <a:lnTo>
                    <a:pt x="775120" y="0"/>
                  </a:lnTo>
                  <a:cubicBezTo>
                    <a:pt x="785113" y="0"/>
                    <a:pt x="794697" y="3970"/>
                    <a:pt x="801764" y="11036"/>
                  </a:cubicBezTo>
                  <a:cubicBezTo>
                    <a:pt x="808830" y="18103"/>
                    <a:pt x="812800" y="27687"/>
                    <a:pt x="812800" y="37680"/>
                  </a:cubicBezTo>
                  <a:lnTo>
                    <a:pt x="812800" y="197785"/>
                  </a:lnTo>
                  <a:cubicBezTo>
                    <a:pt x="812800" y="218595"/>
                    <a:pt x="795930" y="235465"/>
                    <a:pt x="775120" y="235465"/>
                  </a:cubicBezTo>
                  <a:lnTo>
                    <a:pt x="37680" y="235465"/>
                  </a:lnTo>
                  <a:cubicBezTo>
                    <a:pt x="27687" y="235465"/>
                    <a:pt x="18103" y="231495"/>
                    <a:pt x="11036" y="224429"/>
                  </a:cubicBezTo>
                  <a:cubicBezTo>
                    <a:pt x="3970" y="217362"/>
                    <a:pt x="0" y="207778"/>
                    <a:pt x="0" y="197785"/>
                  </a:cubicBezTo>
                  <a:lnTo>
                    <a:pt x="0" y="37680"/>
                  </a:lnTo>
                  <a:cubicBezTo>
                    <a:pt x="0" y="27687"/>
                    <a:pt x="3970" y="18103"/>
                    <a:pt x="11036" y="11036"/>
                  </a:cubicBezTo>
                  <a:cubicBezTo>
                    <a:pt x="18103" y="3970"/>
                    <a:pt x="27687" y="0"/>
                    <a:pt x="37680" y="0"/>
                  </a:cubicBezTo>
                  <a:close/>
                </a:path>
              </a:pathLst>
            </a:custGeom>
            <a:solidFill>
              <a:srgbClr val="38B6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812800" cy="264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2674577" y="9193655"/>
            <a:ext cx="2391370" cy="33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8"/>
              </a:lnSpc>
              <a:spcBef>
                <a:spcPct val="0"/>
              </a:spcBef>
            </a:pPr>
            <a:r>
              <a:rPr lang="en-US" sz="201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Completion Report</a:t>
            </a:r>
          </a:p>
        </p:txBody>
      </p:sp>
      <p:sp>
        <p:nvSpPr>
          <p:cNvPr name="AutoShape 49" id="49"/>
          <p:cNvSpPr/>
          <p:nvPr/>
        </p:nvSpPr>
        <p:spPr>
          <a:xfrm flipH="true">
            <a:off x="15205770" y="3473995"/>
            <a:ext cx="1024424" cy="572421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triangle" len="med" w="lg"/>
          </a:ln>
        </p:spPr>
      </p:sp>
      <p:sp>
        <p:nvSpPr>
          <p:cNvPr name="AutoShape 50" id="50"/>
          <p:cNvSpPr/>
          <p:nvPr/>
        </p:nvSpPr>
        <p:spPr>
          <a:xfrm>
            <a:off x="11616998" y="7729117"/>
            <a:ext cx="917756" cy="1422519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triangle" len="med" w="lg"/>
            <a:tailEnd type="oval" len="lg" w="lg"/>
          </a:ln>
        </p:spPr>
      </p:sp>
      <p:sp>
        <p:nvSpPr>
          <p:cNvPr name="AutoShape 51" id="51"/>
          <p:cNvSpPr/>
          <p:nvPr/>
        </p:nvSpPr>
        <p:spPr>
          <a:xfrm flipH="true">
            <a:off x="15205770" y="7620348"/>
            <a:ext cx="1181469" cy="1879716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triangle" len="med" w="lg"/>
            <a:tailEnd type="oval" len="lg" w="lg"/>
          </a:ln>
        </p:spPr>
      </p:sp>
      <p:grpSp>
        <p:nvGrpSpPr>
          <p:cNvPr name="Group 52" id="52"/>
          <p:cNvGrpSpPr/>
          <p:nvPr/>
        </p:nvGrpSpPr>
        <p:grpSpPr>
          <a:xfrm rot="0">
            <a:off x="12547724" y="5861060"/>
            <a:ext cx="2671016" cy="773783"/>
            <a:chOff x="0" y="0"/>
            <a:chExt cx="812800" cy="23546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235465"/>
            </a:xfrm>
            <a:custGeom>
              <a:avLst/>
              <a:gdLst/>
              <a:ahLst/>
              <a:cxnLst/>
              <a:rect r="r" b="b" t="t" l="l"/>
              <a:pathLst>
                <a:path h="235465" w="812800">
                  <a:moveTo>
                    <a:pt x="37680" y="0"/>
                  </a:moveTo>
                  <a:lnTo>
                    <a:pt x="775120" y="0"/>
                  </a:lnTo>
                  <a:cubicBezTo>
                    <a:pt x="785113" y="0"/>
                    <a:pt x="794697" y="3970"/>
                    <a:pt x="801764" y="11036"/>
                  </a:cubicBezTo>
                  <a:cubicBezTo>
                    <a:pt x="808830" y="18103"/>
                    <a:pt x="812800" y="27687"/>
                    <a:pt x="812800" y="37680"/>
                  </a:cubicBezTo>
                  <a:lnTo>
                    <a:pt x="812800" y="197785"/>
                  </a:lnTo>
                  <a:cubicBezTo>
                    <a:pt x="812800" y="218595"/>
                    <a:pt x="795930" y="235465"/>
                    <a:pt x="775120" y="235465"/>
                  </a:cubicBezTo>
                  <a:lnTo>
                    <a:pt x="37680" y="235465"/>
                  </a:lnTo>
                  <a:cubicBezTo>
                    <a:pt x="27687" y="235465"/>
                    <a:pt x="18103" y="231495"/>
                    <a:pt x="11036" y="224429"/>
                  </a:cubicBezTo>
                  <a:cubicBezTo>
                    <a:pt x="3970" y="217362"/>
                    <a:pt x="0" y="207778"/>
                    <a:pt x="0" y="197785"/>
                  </a:cubicBezTo>
                  <a:lnTo>
                    <a:pt x="0" y="37680"/>
                  </a:lnTo>
                  <a:cubicBezTo>
                    <a:pt x="0" y="27687"/>
                    <a:pt x="3970" y="18103"/>
                    <a:pt x="11036" y="11036"/>
                  </a:cubicBezTo>
                  <a:cubicBezTo>
                    <a:pt x="18103" y="3970"/>
                    <a:pt x="27687" y="0"/>
                    <a:pt x="37680" y="0"/>
                  </a:cubicBezTo>
                  <a:close/>
                </a:path>
              </a:pathLst>
            </a:custGeom>
            <a:solidFill>
              <a:srgbClr val="E2A9F1"/>
            </a:solidFill>
            <a:ln cap="sq">
              <a:noFill/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812800" cy="264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2583885" y="6119037"/>
            <a:ext cx="2558207" cy="27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8"/>
              </a:lnSpc>
              <a:spcBef>
                <a:spcPct val="0"/>
              </a:spcBef>
            </a:pPr>
            <a:r>
              <a:rPr lang="en-US" sz="1613">
                <a:solidFill>
                  <a:srgbClr val="FFFFFF"/>
                </a:solidFill>
                <a:latin typeface="Touvlo"/>
                <a:ea typeface="Touvlo"/>
                <a:cs typeface="Touvlo"/>
                <a:sym typeface="Touvlo"/>
              </a:rPr>
              <a:t>Donor Registration/Login</a:t>
            </a:r>
          </a:p>
        </p:txBody>
      </p:sp>
      <p:sp>
        <p:nvSpPr>
          <p:cNvPr name="AutoShape 56" id="56"/>
          <p:cNvSpPr/>
          <p:nvPr/>
        </p:nvSpPr>
        <p:spPr>
          <a:xfrm flipV="true">
            <a:off x="11616998" y="6247952"/>
            <a:ext cx="930726" cy="828119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AutoShape 57" id="57"/>
          <p:cNvSpPr/>
          <p:nvPr/>
        </p:nvSpPr>
        <p:spPr>
          <a:xfrm flipH="true">
            <a:off x="15205770" y="3579440"/>
            <a:ext cx="1024424" cy="56618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oval" len="lg" w="lg"/>
            <a:tailEnd type="arrow" len="sm" w="med"/>
          </a:ln>
        </p:spPr>
      </p:sp>
      <p:sp>
        <p:nvSpPr>
          <p:cNvPr name="TextBox 58" id="58"/>
          <p:cNvSpPr txBox="true"/>
          <p:nvPr/>
        </p:nvSpPr>
        <p:spPr>
          <a:xfrm rot="0">
            <a:off x="12785031" y="1882247"/>
            <a:ext cx="2155915" cy="370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Use Case Diagram</a:t>
            </a:r>
          </a:p>
        </p:txBody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0674" y="1028700"/>
            <a:ext cx="851827" cy="949111"/>
          </a:xfrm>
          <a:custGeom>
            <a:avLst/>
            <a:gdLst/>
            <a:ahLst/>
            <a:cxnLst/>
            <a:rect r="r" b="b" t="t" l="l"/>
            <a:pathLst>
              <a:path h="949111" w="851827">
                <a:moveTo>
                  <a:pt x="0" y="0"/>
                </a:moveTo>
                <a:lnTo>
                  <a:pt x="851827" y="0"/>
                </a:lnTo>
                <a:lnTo>
                  <a:pt x="851827" y="949111"/>
                </a:lnTo>
                <a:lnTo>
                  <a:pt x="0" y="9491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502626"/>
            <a:ext cx="15463804" cy="3562587"/>
            <a:chOff x="0" y="0"/>
            <a:chExt cx="4072771" cy="9382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72772" cy="938294"/>
            </a:xfrm>
            <a:custGeom>
              <a:avLst/>
              <a:gdLst/>
              <a:ahLst/>
              <a:cxnLst/>
              <a:rect r="r" b="b" t="t" l="l"/>
              <a:pathLst>
                <a:path h="938294" w="4072772">
                  <a:moveTo>
                    <a:pt x="35045" y="0"/>
                  </a:moveTo>
                  <a:lnTo>
                    <a:pt x="4037726" y="0"/>
                  </a:lnTo>
                  <a:cubicBezTo>
                    <a:pt x="4047021" y="0"/>
                    <a:pt x="4055935" y="3692"/>
                    <a:pt x="4062507" y="10265"/>
                  </a:cubicBezTo>
                  <a:cubicBezTo>
                    <a:pt x="4069079" y="16837"/>
                    <a:pt x="4072772" y="25751"/>
                    <a:pt x="4072772" y="35045"/>
                  </a:cubicBezTo>
                  <a:lnTo>
                    <a:pt x="4072772" y="903249"/>
                  </a:lnTo>
                  <a:cubicBezTo>
                    <a:pt x="4072772" y="922604"/>
                    <a:pt x="4057081" y="938294"/>
                    <a:pt x="4037726" y="938294"/>
                  </a:cubicBezTo>
                  <a:lnTo>
                    <a:pt x="35045" y="938294"/>
                  </a:lnTo>
                  <a:cubicBezTo>
                    <a:pt x="15690" y="938294"/>
                    <a:pt x="0" y="922604"/>
                    <a:pt x="0" y="903249"/>
                  </a:cubicBezTo>
                  <a:lnTo>
                    <a:pt x="0" y="35045"/>
                  </a:lnTo>
                  <a:cubicBezTo>
                    <a:pt x="0" y="15690"/>
                    <a:pt x="15690" y="0"/>
                    <a:pt x="35045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072771" cy="9763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469968" y="4467041"/>
            <a:ext cx="2999476" cy="170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</a:t>
            </a:r>
            <a:r>
              <a:rPr lang="en-US" sz="189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ore func</a:t>
            </a:r>
            <a:r>
              <a:rPr lang="en-US" sz="189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tions: volunteer registration, applicant verification, donor funding, and admin control panel.</a:t>
            </a:r>
          </a:p>
        </p:txBody>
      </p:sp>
      <p:sp>
        <p:nvSpPr>
          <p:cNvPr name="AutoShape 7" id="7"/>
          <p:cNvSpPr/>
          <p:nvPr/>
        </p:nvSpPr>
        <p:spPr>
          <a:xfrm>
            <a:off x="5469444" y="3502626"/>
            <a:ext cx="0" cy="3562587"/>
          </a:xfrm>
          <a:prstGeom prst="line">
            <a:avLst/>
          </a:prstGeom>
          <a:ln cap="flat" w="7620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>
            <a:off x="10416416" y="3518628"/>
            <a:ext cx="69450" cy="3546585"/>
          </a:xfrm>
          <a:prstGeom prst="line">
            <a:avLst/>
          </a:prstGeom>
          <a:ln cap="flat" w="76200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436882" y="6347667"/>
            <a:ext cx="594936" cy="59493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8E3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5"/>
                </a:lnSpc>
              </a:pPr>
              <a:r>
                <a:rPr lang="en-US" b="true" sz="1796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751337" y="6347667"/>
            <a:ext cx="610566" cy="61056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8E3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5"/>
                </a:lnSpc>
              </a:pPr>
              <a:r>
                <a:rPr lang="en-US" b="true" sz="1796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24876" y="6332038"/>
            <a:ext cx="610566" cy="61056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8E3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5"/>
                </a:lnSpc>
              </a:pPr>
              <a:r>
                <a:rPr lang="en-US" b="true" sz="1796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3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28700" y="4581747"/>
            <a:ext cx="1450831" cy="1271291"/>
          </a:xfrm>
          <a:custGeom>
            <a:avLst/>
            <a:gdLst/>
            <a:ahLst/>
            <a:cxnLst/>
            <a:rect r="r" b="b" t="t" l="l"/>
            <a:pathLst>
              <a:path h="1271291" w="1450831">
                <a:moveTo>
                  <a:pt x="0" y="0"/>
                </a:moveTo>
                <a:lnTo>
                  <a:pt x="1450831" y="0"/>
                </a:lnTo>
                <a:lnTo>
                  <a:pt x="1450831" y="1271290"/>
                </a:lnTo>
                <a:lnTo>
                  <a:pt x="0" y="12712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946943" y="4325489"/>
            <a:ext cx="1380141" cy="1916862"/>
          </a:xfrm>
          <a:custGeom>
            <a:avLst/>
            <a:gdLst/>
            <a:ahLst/>
            <a:cxnLst/>
            <a:rect r="r" b="b" t="t" l="l"/>
            <a:pathLst>
              <a:path h="1916862" w="1380141">
                <a:moveTo>
                  <a:pt x="0" y="0"/>
                </a:moveTo>
                <a:lnTo>
                  <a:pt x="1380140" y="0"/>
                </a:lnTo>
                <a:lnTo>
                  <a:pt x="1380140" y="1916862"/>
                </a:lnTo>
                <a:lnTo>
                  <a:pt x="0" y="19168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018560" y="4325489"/>
            <a:ext cx="1744917" cy="1901817"/>
          </a:xfrm>
          <a:custGeom>
            <a:avLst/>
            <a:gdLst/>
            <a:ahLst/>
            <a:cxnLst/>
            <a:rect r="r" b="b" t="t" l="l"/>
            <a:pathLst>
              <a:path h="1901817" w="1744917">
                <a:moveTo>
                  <a:pt x="0" y="0"/>
                </a:moveTo>
                <a:lnTo>
                  <a:pt x="1744917" y="0"/>
                </a:lnTo>
                <a:lnTo>
                  <a:pt x="1744917" y="1901817"/>
                </a:lnTo>
                <a:lnTo>
                  <a:pt x="0" y="19018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2044767"/>
            <a:ext cx="1755775" cy="302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5"/>
              </a:lnSpc>
              <a:spcBef>
                <a:spcPct val="0"/>
              </a:spcBef>
            </a:pPr>
            <a:r>
              <a:rPr lang="en-US" b="true" sz="1796">
                <a:solidFill>
                  <a:srgbClr val="388E3C"/>
                </a:solidFill>
                <a:latin typeface="Gotham Bold"/>
                <a:ea typeface="Gotham Bold"/>
                <a:cs typeface="Gotham Bold"/>
                <a:sym typeface="Gotham Bold"/>
              </a:rPr>
              <a:t>Haat Baran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20677" y="1359959"/>
            <a:ext cx="5446647" cy="98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System Evolution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2856558"/>
            <a:ext cx="14617452" cy="370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The Haat Baran system is designed to be flexible, upgradable, and scalable according to user demand and technological changes.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83671" y="4467041"/>
            <a:ext cx="2999476" cy="1371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</a:t>
            </a:r>
            <a:r>
              <a:rPr lang="en-US" sz="189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ntroduction of post-funding tracking and automated progress reports for donors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50246" y="3900161"/>
            <a:ext cx="1838920" cy="493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5"/>
              </a:lnSpc>
              <a:spcBef>
                <a:spcPct val="0"/>
              </a:spcBef>
            </a:pPr>
            <a:r>
              <a:rPr lang="en-US" b="true" sz="269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Version 1.0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06628" y="3900161"/>
            <a:ext cx="1891308" cy="493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5"/>
              </a:lnSpc>
              <a:spcBef>
                <a:spcPct val="0"/>
              </a:spcBef>
            </a:pPr>
            <a:r>
              <a:rPr lang="en-US" b="true" sz="269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Version 2.0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98492" y="3900161"/>
            <a:ext cx="1879253" cy="493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5"/>
              </a:lnSpc>
              <a:spcBef>
                <a:spcPct val="0"/>
              </a:spcBef>
            </a:pPr>
            <a:r>
              <a:rPr lang="en-US" b="true" sz="269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Version 3.0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75045" y="4467041"/>
            <a:ext cx="2526147" cy="2037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5"/>
              </a:lnSpc>
              <a:spcBef>
                <a:spcPct val="0"/>
              </a:spcBef>
            </a:pPr>
            <a:r>
              <a:rPr lang="en-US" sz="189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Expansi</a:t>
            </a:r>
            <a:r>
              <a:rPr lang="en-US" sz="1896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on with AI-driven verification assistance, fraud detection, and predictive funding suggestions. 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02954" y="5280899"/>
            <a:ext cx="10482091" cy="213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83"/>
              </a:lnSpc>
              <a:spcBef>
                <a:spcPct val="0"/>
              </a:spcBef>
            </a:pPr>
            <a:r>
              <a:rPr lang="en-US" b="true" sz="11845">
                <a:solidFill>
                  <a:srgbClr val="272521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866326" y="1457644"/>
            <a:ext cx="2555348" cy="2847185"/>
          </a:xfrm>
          <a:custGeom>
            <a:avLst/>
            <a:gdLst/>
            <a:ahLst/>
            <a:cxnLst/>
            <a:rect r="r" b="b" t="t" l="l"/>
            <a:pathLst>
              <a:path h="2847185" w="2555348">
                <a:moveTo>
                  <a:pt x="0" y="0"/>
                </a:moveTo>
                <a:lnTo>
                  <a:pt x="2555348" y="0"/>
                </a:lnTo>
                <a:lnTo>
                  <a:pt x="2555348" y="2847185"/>
                </a:lnTo>
                <a:lnTo>
                  <a:pt x="0" y="2847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10474" y="4505681"/>
            <a:ext cx="5267052" cy="90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44"/>
              </a:lnSpc>
              <a:spcBef>
                <a:spcPct val="0"/>
              </a:spcBef>
            </a:pPr>
            <a:r>
              <a:rPr lang="en-US" b="true" sz="5389">
                <a:solidFill>
                  <a:srgbClr val="388E3C"/>
                </a:solidFill>
                <a:latin typeface="Gotham Bold"/>
                <a:ea typeface="Gotham Bold"/>
                <a:cs typeface="Gotham Bold"/>
                <a:sym typeface="Gotham Bold"/>
              </a:rPr>
              <a:t>Haat Baran</a:t>
            </a:r>
          </a:p>
        </p:txBody>
      </p:sp>
    </p:spTree>
  </p:cSld>
  <p:clrMapOvr>
    <a:masterClrMapping/>
  </p:clrMapOvr>
  <p:transition spd="fast"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DAG1gOdf2ks</dc:identifier>
  <dcterms:modified xsi:type="dcterms:W3CDTF">2011-08-01T06:04:30Z</dcterms:modified>
  <cp:revision>1</cp:revision>
  <dc:title>Haat Baran SRS</dc:title>
</cp:coreProperties>
</file>